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457CEE7-7DD6-CB5C-E35B-EDBCBB77C2DF}">
          <p14:sldIdLst>
            <p14:sldId id="256"/>
          </p14:sldIdLst>
        </p14:section>
        <p14:section name="Setup" id="{A72601E2-E180-44E0-C867-7F7612B563A2}">
          <p14:sldIdLst>
            <p14:sldId id="257"/>
            <p14:sldId id="258"/>
            <p14:sldId id="259"/>
          </p14:sldIdLst>
        </p14:section>
        <p14:section name="Launch" id="{0261E6DD-779F-339C-264B-74B6E0EE1284}">
          <p14:sldIdLst>
            <p14:sldId id="260"/>
            <p14:sldId id="261"/>
            <p14:sldId id="262"/>
            <p14:sldId id="263"/>
          </p14:sldIdLst>
        </p14:section>
        <p14:section name="Results" id="{58F19190-56E7-F006-3274-05F158989ED8}">
          <p14:sldIdLst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5425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This deck documents the hands-on part of the project that follows the earlier action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problem from the problem statement, its bottleneck, how we approached it, and what the implementation showed so far.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stages: check the starting point, launch the instance, secure and tag it, collect metrics, read the readings.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 Optimizer showed Data not available because the account had no running instances.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Name, image and instance type chosen for a cheap, measurable demo workload.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SSH is restricted to one IP; web ports stay closed because this is not a web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Initializing status check is normal right after boot.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Tags make the resource easy to find and filter by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data points at 00:10 UTC on 4 October 2026. CloudWatch had already recorded metrics for the instance.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Network traffic peaks about every 30 minutes while CPU stays flat near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issue had an ordinary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pointing to the Compute Optimizer recommendation as the next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B.TECH MAJOR PROJECT  |  IMPLEMENTATION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</a:rPr>
              <a:t>AWS Compute Optimizer Driven Rightsizing Programme</a:t>
            </a:r>
            <a:endParaRPr lang="en-US" sz="3400" dirty="0"/>
          </a:p>
        </p:txBody>
      </p:sp>
      <p:sp>
        <p:nvSpPr>
          <p:cNvPr id="4" name="Subtitle"/>
          <p:cNvSpPr txBox="1"/>
          <p:nvPr/>
        </p:nvSpPr>
        <p:spPr>
          <a:xfrm>
            <a:off x="731520" y="2468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Practical deployment: from an empty account to live CloudWatch metrics</a:t>
            </a:r>
            <a:endParaRPr lang="en-US" sz="1600" dirty="0"/>
          </a:p>
        </p:txBody>
      </p:sp>
      <p:sp>
        <p:nvSpPr>
          <p:cNvPr id="5" name="Team members"/>
          <p:cNvSpPr txBox="1"/>
          <p:nvPr/>
        </p:nvSpPr>
        <p:spPr>
          <a:xfrm>
            <a:off x="731520" y="320040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Team Members: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2400032408 - Prem Prakash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2400031777 - Tentu Divya Amrutha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2400031637 - Chimakurthi Lakshmi Janani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2400031630 - Samarth V Ratnam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Problem Statement Analysis</a:t>
            </a:r>
            <a:endParaRPr lang="en-US" sz="2400" dirty="0"/>
          </a:p>
        </p:txBody>
      </p:sp>
      <p:sp>
        <p:nvSpPr>
          <p:cNvPr id="4" name="Cost / Resource Problems card"/>
          <p:cNvSpPr/>
          <p:nvPr/>
        </p:nvSpPr>
        <p:spPr>
          <a:xfrm>
            <a:off x="457200" y="1005840"/>
            <a:ext cx="4023360" cy="3063240"/>
          </a:xfrm>
          <a:prstGeom prst="roundRect">
            <a:avLst>
              <a:gd name="adj" fmla="val 1493"/>
            </a:avLst>
          </a:prstGeom>
          <a:solidFill>
            <a:schemeClr val="tx2"/>
          </a:solidFill>
          <a:ln/>
        </p:spPr>
      </p:sp>
      <p:sp>
        <p:nvSpPr>
          <p:cNvPr id="5" name="Cost / Resource Problems heading"/>
          <p:cNvSpPr txBox="1"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Cost / Resource Problems</a:t>
            </a:r>
            <a:endParaRPr lang="en-US" sz="1600" dirty="0"/>
          </a:p>
        </p:txBody>
      </p:sp>
      <p:sp>
        <p:nvSpPr>
          <p:cNvPr id="6" name="Cost / Resource Problems analysis"/>
          <p:cNvSpPr txBox="1"/>
          <p:nvPr/>
        </p:nvSpPr>
        <p:spPr>
          <a:xfrm>
            <a:off x="640080" y="150876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Problem: </a:t>
            </a:r>
            <a:r>
              <a:rPr lang="en-US" sz="1200" dirty="0">
                <a:solidFill>
                  <a:schemeClr val="bg1"/>
                </a:solidFill>
              </a:rPr>
              <a:t>Resources are provisioned larger than needed, so unused capacity is billed in full.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Bottleneck: </a:t>
            </a:r>
            <a:r>
              <a:rPr lang="en-US" sz="1200" dirty="0">
                <a:solidFill>
                  <a:schemeClr val="bg1"/>
                </a:solidFill>
              </a:rPr>
              <a:t>Unused capacity stays invisible unless usage is examined.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Our approach: </a:t>
            </a:r>
            <a:r>
              <a:rPr lang="en-US" sz="1200" dirty="0">
                <a:solidFill>
                  <a:schemeClr val="bg1"/>
                </a:solidFill>
              </a:rPr>
              <a:t>Launched a measurable t3.micro and tracked CPU and network in CloudWatch.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we observed: </a:t>
            </a:r>
            <a:r>
              <a:rPr lang="en-US" sz="1200" dirty="0">
                <a:solidFill>
                  <a:schemeClr val="bg1"/>
                </a:solidFill>
              </a:rPr>
              <a:t>CPU stayed between 0.07% and 0.17% over about three hours: a lightly used server.</a:t>
            </a:r>
            <a:endParaRPr lang="en-US" sz="1200" dirty="0"/>
          </a:p>
        </p:txBody>
      </p:sp>
      <p:sp>
        <p:nvSpPr>
          <p:cNvPr id="7" name="Management / Optimization Problems card"/>
          <p:cNvSpPr/>
          <p:nvPr/>
        </p:nvSpPr>
        <p:spPr>
          <a:xfrm>
            <a:off x="4663440" y="1005840"/>
            <a:ext cx="4023360" cy="3063240"/>
          </a:xfrm>
          <a:prstGeom prst="roundRect">
            <a:avLst>
              <a:gd name="adj" fmla="val 1493"/>
            </a:avLst>
          </a:prstGeom>
          <a:solidFill>
            <a:schemeClr val="tx2"/>
          </a:solidFill>
          <a:ln/>
        </p:spPr>
      </p:sp>
      <p:sp>
        <p:nvSpPr>
          <p:cNvPr id="8" name="Management / Optimization Problems heading"/>
          <p:cNvSpPr txBox="1"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Management / Optimization Problems</a:t>
            </a:r>
            <a:endParaRPr lang="en-US" sz="1600" dirty="0"/>
          </a:p>
        </p:txBody>
      </p:sp>
      <p:sp>
        <p:nvSpPr>
          <p:cNvPr id="9" name="Management / Optimization Problems analysis"/>
          <p:cNvSpPr txBox="1"/>
          <p:nvPr/>
        </p:nvSpPr>
        <p:spPr>
          <a:xfrm>
            <a:off x="4846320" y="150876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Problem: </a:t>
            </a:r>
            <a:r>
              <a:rPr lang="en-US" sz="1200" dirty="0">
                <a:solidFill>
                  <a:schemeClr val="bg1"/>
                </a:solidFill>
              </a:rPr>
              <a:t>Finding inefficiencies by hand is slow and error-prone across many resources.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Bottleneck: </a:t>
            </a:r>
            <a:r>
              <a:rPr lang="en-US" sz="1200" dirty="0">
                <a:solidFill>
                  <a:schemeClr val="bg1"/>
                </a:solidFill>
              </a:rPr>
              <a:t>Manual analysis cannot keep up with the number of resources or changing demand.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Our approach: </a:t>
            </a:r>
            <a:r>
              <a:rPr lang="en-US" sz="1200" dirty="0">
                <a:solidFill>
                  <a:schemeClr val="bg1"/>
                </a:solidFill>
              </a:rPr>
              <a:t>Used Compute Optimizer to analyse CloudWatch history, and tagged resources so they are easy to filter.</a:t>
            </a:r>
            <a:endParaRPr lang="en-US" sz="12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What we observed: </a:t>
            </a:r>
            <a:r>
              <a:rPr lang="en-US" sz="1200" dirty="0">
                <a:solidFill>
                  <a:schemeClr val="bg1"/>
                </a:solidFill>
              </a:rPr>
              <a:t>Compute Optimizer needs a workload and time to build history before it reports; the recommendation is pending.</a:t>
            </a:r>
            <a:endParaRPr lang="en-US" sz="1200" dirty="0"/>
          </a:p>
        </p:txBody>
      </p:sp>
      <p:sp>
        <p:nvSpPr>
          <p:cNvPr id="10" name="Takeaway card"/>
          <p:cNvSpPr/>
          <p:nvPr/>
        </p:nvSpPr>
        <p:spPr>
          <a:xfrm>
            <a:off x="457200" y="4224528"/>
            <a:ext cx="8229600" cy="50292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11" name="Takeaway text"/>
          <p:cNvSpPr txBox="1"/>
          <p:nvPr/>
        </p:nvSpPr>
        <p:spPr>
          <a:xfrm>
            <a:off x="640080" y="42245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Usage looks low so far; Compute Optimizer will confirm whether the instance is over-provisioned.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What We Implemented</a:t>
            </a:r>
            <a:endParaRPr lang="en-US" sz="2400" dirty="0"/>
          </a:p>
        </p:txBody>
      </p:sp>
      <p:sp>
        <p:nvSpPr>
          <p:cNvPr id="4" name="Step card 01"/>
          <p:cNvSpPr/>
          <p:nvPr/>
        </p:nvSpPr>
        <p:spPr>
          <a:xfrm>
            <a:off x="457200" y="1097280"/>
            <a:ext cx="1536192" cy="2011680"/>
          </a:xfrm>
          <a:prstGeom prst="roundRect">
            <a:avLst>
              <a:gd name="adj" fmla="val 2976"/>
            </a:avLst>
          </a:prstGeom>
          <a:solidFill>
            <a:schemeClr val="tx2"/>
          </a:solidFill>
          <a:ln/>
        </p:spPr>
      </p:sp>
      <p:sp>
        <p:nvSpPr>
          <p:cNvPr id="5" name="Step number"/>
          <p:cNvSpPr txBox="1"/>
          <p:nvPr/>
        </p:nvSpPr>
        <p:spPr>
          <a:xfrm>
            <a:off x="594360" y="1188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Step title"/>
          <p:cNvSpPr txBox="1"/>
          <p:nvPr/>
        </p:nvSpPr>
        <p:spPr>
          <a:xfrm>
            <a:off x="594360" y="16459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Check the starting point</a:t>
            </a:r>
            <a:endParaRPr lang="en-US" sz="1400" dirty="0"/>
          </a:p>
        </p:txBody>
      </p:sp>
      <p:sp>
        <p:nvSpPr>
          <p:cNvPr id="7" name="Step detail"/>
          <p:cNvSpPr txBox="1"/>
          <p:nvPr/>
        </p:nvSpPr>
        <p:spPr>
          <a:xfrm>
            <a:off x="594360" y="23317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Compute Optimizer and EC2 dashboards</a:t>
            </a:r>
            <a:endParaRPr lang="en-US" sz="1200" dirty="0"/>
          </a:p>
        </p:txBody>
      </p:sp>
      <p:sp>
        <p:nvSpPr>
          <p:cNvPr id="8" name="Step card 02"/>
          <p:cNvSpPr/>
          <p:nvPr/>
        </p:nvSpPr>
        <p:spPr>
          <a:xfrm>
            <a:off x="2130552" y="1097280"/>
            <a:ext cx="1536192" cy="2011680"/>
          </a:xfrm>
          <a:prstGeom prst="roundRect">
            <a:avLst>
              <a:gd name="adj" fmla="val 2976"/>
            </a:avLst>
          </a:prstGeom>
          <a:solidFill>
            <a:schemeClr val="tx2"/>
          </a:solidFill>
          <a:ln/>
        </p:spPr>
      </p:sp>
      <p:sp>
        <p:nvSpPr>
          <p:cNvPr id="9" name="Step number"/>
          <p:cNvSpPr txBox="1"/>
          <p:nvPr/>
        </p:nvSpPr>
        <p:spPr>
          <a:xfrm>
            <a:off x="2267712" y="1188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02</a:t>
            </a:r>
            <a:endParaRPr lang="en-US" sz="2200" dirty="0"/>
          </a:p>
        </p:txBody>
      </p:sp>
      <p:sp>
        <p:nvSpPr>
          <p:cNvPr id="10" name="Step title"/>
          <p:cNvSpPr txBox="1"/>
          <p:nvPr/>
        </p:nvSpPr>
        <p:spPr>
          <a:xfrm>
            <a:off x="2267712" y="16459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Launch the instance</a:t>
            </a:r>
            <a:endParaRPr lang="en-US" sz="1400" dirty="0"/>
          </a:p>
        </p:txBody>
      </p:sp>
      <p:sp>
        <p:nvSpPr>
          <p:cNvPr id="11" name="Step detail"/>
          <p:cNvSpPr txBox="1"/>
          <p:nvPr/>
        </p:nvSpPr>
        <p:spPr>
          <a:xfrm>
            <a:off x="2267712" y="23317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t3.micro, Amazon Linux 2023</a:t>
            </a:r>
            <a:endParaRPr lang="en-US" sz="1200" dirty="0"/>
          </a:p>
        </p:txBody>
      </p:sp>
      <p:sp>
        <p:nvSpPr>
          <p:cNvPr id="12" name="Step card 03"/>
          <p:cNvSpPr/>
          <p:nvPr/>
        </p:nvSpPr>
        <p:spPr>
          <a:xfrm>
            <a:off x="3803904" y="1097280"/>
            <a:ext cx="1536192" cy="2011680"/>
          </a:xfrm>
          <a:prstGeom prst="roundRect">
            <a:avLst>
              <a:gd name="adj" fmla="val 2976"/>
            </a:avLst>
          </a:prstGeom>
          <a:solidFill>
            <a:schemeClr val="tx2"/>
          </a:solidFill>
          <a:ln/>
        </p:spPr>
      </p:sp>
      <p:sp>
        <p:nvSpPr>
          <p:cNvPr id="13" name="Step number"/>
          <p:cNvSpPr txBox="1"/>
          <p:nvPr/>
        </p:nvSpPr>
        <p:spPr>
          <a:xfrm>
            <a:off x="3941064" y="1188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03</a:t>
            </a:r>
            <a:endParaRPr lang="en-US" sz="2200" dirty="0"/>
          </a:p>
        </p:txBody>
      </p:sp>
      <p:sp>
        <p:nvSpPr>
          <p:cNvPr id="14" name="Step title"/>
          <p:cNvSpPr txBox="1"/>
          <p:nvPr/>
        </p:nvSpPr>
        <p:spPr>
          <a:xfrm>
            <a:off x="3941064" y="16459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Secure and tag</a:t>
            </a:r>
            <a:endParaRPr lang="en-US" sz="1400" dirty="0"/>
          </a:p>
        </p:txBody>
      </p:sp>
      <p:sp>
        <p:nvSpPr>
          <p:cNvPr id="15" name="Step detail"/>
          <p:cNvSpPr txBox="1"/>
          <p:nvPr/>
        </p:nvSpPr>
        <p:spPr>
          <a:xfrm>
            <a:off x="3941064" y="23317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SSH from my IP only, four tags</a:t>
            </a:r>
            <a:endParaRPr lang="en-US" sz="1200" dirty="0"/>
          </a:p>
        </p:txBody>
      </p:sp>
      <p:sp>
        <p:nvSpPr>
          <p:cNvPr id="16" name="Step card 04"/>
          <p:cNvSpPr/>
          <p:nvPr/>
        </p:nvSpPr>
        <p:spPr>
          <a:xfrm>
            <a:off x="5477256" y="1097280"/>
            <a:ext cx="1536192" cy="2011680"/>
          </a:xfrm>
          <a:prstGeom prst="roundRect">
            <a:avLst>
              <a:gd name="adj" fmla="val 2976"/>
            </a:avLst>
          </a:prstGeom>
          <a:solidFill>
            <a:schemeClr val="tx2"/>
          </a:solidFill>
          <a:ln/>
        </p:spPr>
      </p:sp>
      <p:sp>
        <p:nvSpPr>
          <p:cNvPr id="17" name="Step number"/>
          <p:cNvSpPr txBox="1"/>
          <p:nvPr/>
        </p:nvSpPr>
        <p:spPr>
          <a:xfrm>
            <a:off x="5614416" y="1188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04</a:t>
            </a:r>
            <a:endParaRPr lang="en-US" sz="2200" dirty="0"/>
          </a:p>
        </p:txBody>
      </p:sp>
      <p:sp>
        <p:nvSpPr>
          <p:cNvPr id="18" name="Step title"/>
          <p:cNvSpPr txBox="1"/>
          <p:nvPr/>
        </p:nvSpPr>
        <p:spPr>
          <a:xfrm>
            <a:off x="5614416" y="16459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Collect metrics</a:t>
            </a:r>
            <a:endParaRPr lang="en-US" sz="1400" dirty="0"/>
          </a:p>
        </p:txBody>
      </p:sp>
      <p:sp>
        <p:nvSpPr>
          <p:cNvPr id="19" name="Step detail"/>
          <p:cNvSpPr txBox="1"/>
          <p:nvPr/>
        </p:nvSpPr>
        <p:spPr>
          <a:xfrm>
            <a:off x="5614416" y="23317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CloudWatch CPU and network data</a:t>
            </a:r>
            <a:endParaRPr lang="en-US" sz="1200" dirty="0"/>
          </a:p>
        </p:txBody>
      </p:sp>
      <p:sp>
        <p:nvSpPr>
          <p:cNvPr id="20" name="Step card 05"/>
          <p:cNvSpPr/>
          <p:nvPr/>
        </p:nvSpPr>
        <p:spPr>
          <a:xfrm>
            <a:off x="7150608" y="1097280"/>
            <a:ext cx="1536192" cy="2011680"/>
          </a:xfrm>
          <a:prstGeom prst="roundRect">
            <a:avLst>
              <a:gd name="adj" fmla="val 2976"/>
            </a:avLst>
          </a:prstGeom>
          <a:solidFill>
            <a:schemeClr val="tx2"/>
          </a:solidFill>
          <a:ln/>
        </p:spPr>
      </p:sp>
      <p:sp>
        <p:nvSpPr>
          <p:cNvPr id="21" name="Step number"/>
          <p:cNvSpPr txBox="1"/>
          <p:nvPr/>
        </p:nvSpPr>
        <p:spPr>
          <a:xfrm>
            <a:off x="7287768" y="11887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05</a:t>
            </a:r>
            <a:endParaRPr lang="en-US" sz="2200" dirty="0"/>
          </a:p>
        </p:txBody>
      </p:sp>
      <p:sp>
        <p:nvSpPr>
          <p:cNvPr id="22" name="Step title"/>
          <p:cNvSpPr txBox="1"/>
          <p:nvPr/>
        </p:nvSpPr>
        <p:spPr>
          <a:xfrm>
            <a:off x="7287768" y="16459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Read the readings</a:t>
            </a:r>
            <a:endParaRPr lang="en-US" sz="1400" dirty="0"/>
          </a:p>
        </p:txBody>
      </p:sp>
      <p:sp>
        <p:nvSpPr>
          <p:cNvPr id="23" name="Step detail"/>
          <p:cNvSpPr txBox="1"/>
          <p:nvPr/>
        </p:nvSpPr>
        <p:spPr>
          <a:xfrm>
            <a:off x="7287768" y="23317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Evidence for rightsizing</a:t>
            </a:r>
            <a:endParaRPr lang="en-US" sz="1200" dirty="0"/>
          </a:p>
        </p:txBody>
      </p:sp>
      <p:sp>
        <p:nvSpPr>
          <p:cNvPr id="24" name="Takeaway card"/>
          <p:cNvSpPr/>
          <p:nvPr/>
        </p:nvSpPr>
        <p:spPr>
          <a:xfrm>
            <a:off x="457200" y="3474720"/>
            <a:ext cx="8229600" cy="50292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25" name="Takeaway text"/>
          <p:cNvSpPr txBox="1"/>
          <p:nvPr/>
        </p:nvSpPr>
        <p:spPr>
          <a:xfrm>
            <a:off x="640080" y="34747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Practical deployment completed: a live EC2 demo instance now feeds CloudWatch metrics to Compute Optimizer.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Starting Point: Data Will Come 12 Hours Later</a:t>
            </a:r>
            <a:endParaRPr lang="en-US" sz="2400" dirty="0"/>
          </a:p>
        </p:txBody>
      </p:sp>
      <p:sp>
        <p:nvSpPr>
          <p:cNvPr id="4" name="Compute Optimizer dashboard frame"/>
          <p:cNvSpPr/>
          <p:nvPr/>
        </p:nvSpPr>
        <p:spPr>
          <a:xfrm>
            <a:off x="420624" y="1014984"/>
            <a:ext cx="4005072" cy="2530346"/>
          </a:xfrm>
          <a:prstGeom prst="rect">
            <a:avLst/>
          </a:prstGeom>
          <a:solidFill>
            <a:schemeClr val="tx2"/>
          </a:solidFill>
          <a:ln w="9525">
            <a:solidFill>
              <a:schemeClr val="bg2"/>
            </a:solidFill>
            <a:prstDash val="solid"/>
          </a:ln>
        </p:spPr>
      </p:sp>
      <p:pic>
        <p:nvPicPr>
          <p:cNvPr id="5" name="Compute Optimizer dashboard" descr="Compute Optimizer 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931920" cy="2457194"/>
          </a:xfrm>
          <a:prstGeom prst="rect">
            <a:avLst/>
          </a:prstGeom>
        </p:spPr>
      </p:pic>
      <p:sp>
        <p:nvSpPr>
          <p:cNvPr id="6" name="EC2 dashboard frame"/>
          <p:cNvSpPr/>
          <p:nvPr/>
        </p:nvSpPr>
        <p:spPr>
          <a:xfrm>
            <a:off x="4718304" y="1014984"/>
            <a:ext cx="4005072" cy="2530346"/>
          </a:xfrm>
          <a:prstGeom prst="rect">
            <a:avLst/>
          </a:prstGeom>
          <a:solidFill>
            <a:schemeClr val="tx2"/>
          </a:solidFill>
          <a:ln w="9525">
            <a:solidFill>
              <a:schemeClr val="bg2"/>
            </a:solidFill>
            <a:prstDash val="solid"/>
          </a:ln>
        </p:spPr>
      </p:sp>
      <p:pic>
        <p:nvPicPr>
          <p:cNvPr id="7" name="EC2 dashboard" descr="EC2 dashbo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051560"/>
            <a:ext cx="3931920" cy="2457194"/>
          </a:xfrm>
          <a:prstGeom prst="rect">
            <a:avLst/>
          </a:prstGeom>
        </p:spPr>
      </p:pic>
      <p:sp>
        <p:nvSpPr>
          <p:cNvPr id="8" name="Caption Compute Optimizer:"/>
          <p:cNvSpPr txBox="1"/>
          <p:nvPr/>
        </p:nvSpPr>
        <p:spPr>
          <a:xfrm>
            <a:off x="457200" y="3611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Compute Optimizer:  </a:t>
            </a:r>
            <a:r>
              <a:rPr lang="en-US" sz="1200" dirty="0">
                <a:solidFill>
                  <a:schemeClr val="bg1"/>
                </a:solidFill>
              </a:rPr>
              <a:t>Both panels read "Data not available".</a:t>
            </a:r>
            <a:endParaRPr lang="en-US" sz="1200" dirty="0"/>
          </a:p>
        </p:txBody>
      </p:sp>
      <p:sp>
        <p:nvSpPr>
          <p:cNvPr id="9" name="Caption EC2 (us-east-1):"/>
          <p:cNvSpPr txBox="1"/>
          <p:nvPr/>
        </p:nvSpPr>
        <p:spPr>
          <a:xfrm>
            <a:off x="4754880" y="3611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EC2 (us-east-1):  </a:t>
            </a:r>
            <a:r>
              <a:rPr lang="en-US" sz="1200" dirty="0">
                <a:solidFill>
                  <a:schemeClr val="bg1"/>
                </a:solidFill>
              </a:rPr>
              <a:t>0 running instances, 0 volumes.</a:t>
            </a:r>
            <a:endParaRPr lang="en-US" sz="1200" dirty="0"/>
          </a:p>
        </p:txBody>
      </p:sp>
      <p:sp>
        <p:nvSpPr>
          <p:cNvPr id="10" name="Takeaway card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11" name="Takeaway text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Compute Optimizer needs a workload, and findings can take up to 12 hours to appear.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Launching rightsizing-demo-ec2</a:t>
            </a:r>
            <a:endParaRPr lang="en-US" sz="2400" dirty="0"/>
          </a:p>
        </p:txBody>
      </p:sp>
      <p:sp>
        <p:nvSpPr>
          <p:cNvPr id="4" name="Launch wizard name and AMI frame"/>
          <p:cNvSpPr/>
          <p:nvPr/>
        </p:nvSpPr>
        <p:spPr>
          <a:xfrm>
            <a:off x="420624" y="1014984"/>
            <a:ext cx="4005072" cy="2530346"/>
          </a:xfrm>
          <a:prstGeom prst="rect">
            <a:avLst/>
          </a:prstGeom>
          <a:solidFill>
            <a:schemeClr val="tx2"/>
          </a:solidFill>
          <a:ln w="9525">
            <a:solidFill>
              <a:schemeClr val="bg2"/>
            </a:solidFill>
            <a:prstDash val="solid"/>
          </a:ln>
        </p:spPr>
      </p:sp>
      <p:pic>
        <p:nvPicPr>
          <p:cNvPr id="5" name="Launch wizard name and AMI" descr="Launch wizard name and AM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931920" cy="2457194"/>
          </a:xfrm>
          <a:prstGeom prst="rect">
            <a:avLst/>
          </a:prstGeom>
        </p:spPr>
      </p:pic>
      <p:sp>
        <p:nvSpPr>
          <p:cNvPr id="6" name="Instance type and key pair frame"/>
          <p:cNvSpPr/>
          <p:nvPr/>
        </p:nvSpPr>
        <p:spPr>
          <a:xfrm>
            <a:off x="4718304" y="1014984"/>
            <a:ext cx="4005072" cy="2530346"/>
          </a:xfrm>
          <a:prstGeom prst="rect">
            <a:avLst/>
          </a:prstGeom>
          <a:solidFill>
            <a:schemeClr val="tx2"/>
          </a:solidFill>
          <a:ln w="9525">
            <a:solidFill>
              <a:schemeClr val="bg2"/>
            </a:solidFill>
            <a:prstDash val="solid"/>
          </a:ln>
        </p:spPr>
      </p:sp>
      <p:pic>
        <p:nvPicPr>
          <p:cNvPr id="7" name="Instance type and key pair" descr="Instance type and key pai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051560"/>
            <a:ext cx="3931920" cy="2457194"/>
          </a:xfrm>
          <a:prstGeom prst="rect">
            <a:avLst/>
          </a:prstGeom>
        </p:spPr>
      </p:pic>
      <p:sp>
        <p:nvSpPr>
          <p:cNvPr id="8" name="Caption Name and image:"/>
          <p:cNvSpPr txBox="1"/>
          <p:nvPr/>
        </p:nvSpPr>
        <p:spPr>
          <a:xfrm>
            <a:off x="457200" y="3611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Name and image:  </a:t>
            </a:r>
            <a:r>
              <a:rPr lang="en-US" sz="1200" dirty="0">
                <a:solidFill>
                  <a:schemeClr val="bg1"/>
                </a:solidFill>
              </a:rPr>
              <a:t>rightsizing-demo-ec2 on Amazon Linux 2023.</a:t>
            </a:r>
            <a:endParaRPr lang="en-US" sz="1200" dirty="0"/>
          </a:p>
        </p:txBody>
      </p:sp>
      <p:sp>
        <p:nvSpPr>
          <p:cNvPr id="9" name="Caption Type and key:"/>
          <p:cNvSpPr txBox="1"/>
          <p:nvPr/>
        </p:nvSpPr>
        <p:spPr>
          <a:xfrm>
            <a:off x="4754880" y="3611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Type and key:  </a:t>
            </a:r>
            <a:r>
              <a:rPr lang="en-US" sz="1200" dirty="0">
                <a:solidFill>
                  <a:schemeClr val="bg1"/>
                </a:solidFill>
              </a:rPr>
              <a:t>t3.micro (2 vCPU, 1 GiB), key pair rightsizing-demo-key.</a:t>
            </a:r>
            <a:endParaRPr lang="en-US" sz="1200" dirty="0"/>
          </a:p>
        </p:txBody>
      </p:sp>
      <p:sp>
        <p:nvSpPr>
          <p:cNvPr id="10" name="Takeaway card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11" name="Takeaway text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A small, low-cost instance: 0.0104 USD per hour on-demand for Linux.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Network, Security and Storage</a:t>
            </a:r>
            <a:endParaRPr lang="en-US" sz="2400" dirty="0"/>
          </a:p>
        </p:txBody>
      </p:sp>
      <p:sp>
        <p:nvSpPr>
          <p:cNvPr id="4" name="Network settings and storage frame"/>
          <p:cNvSpPr/>
          <p:nvPr/>
        </p:nvSpPr>
        <p:spPr>
          <a:xfrm>
            <a:off x="420624" y="1014984"/>
            <a:ext cx="4919472" cy="3101786"/>
          </a:xfrm>
          <a:prstGeom prst="rect">
            <a:avLst/>
          </a:prstGeom>
          <a:solidFill>
            <a:schemeClr val="tx2"/>
          </a:solidFill>
          <a:ln w="9525">
            <a:solidFill>
              <a:schemeClr val="bg2"/>
            </a:solidFill>
            <a:prstDash val="solid"/>
          </a:ln>
        </p:spPr>
      </p:sp>
      <p:pic>
        <p:nvPicPr>
          <p:cNvPr id="5" name="Network settings and storage" descr="Network settings and stor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4846320" cy="3028634"/>
          </a:xfrm>
          <a:prstGeom prst="rect">
            <a:avLst/>
          </a:prstGeom>
        </p:spPr>
      </p:pic>
      <p:sp>
        <p:nvSpPr>
          <p:cNvPr id="6" name="Setting card 1"/>
          <p:cNvSpPr/>
          <p:nvPr/>
        </p:nvSpPr>
        <p:spPr>
          <a:xfrm>
            <a:off x="5852160" y="1051560"/>
            <a:ext cx="2834640" cy="896112"/>
          </a:xfrm>
          <a:prstGeom prst="roundRect">
            <a:avLst>
              <a:gd name="adj" fmla="val 5102"/>
            </a:avLst>
          </a:prstGeom>
          <a:solidFill>
            <a:schemeClr val="tx2"/>
          </a:solidFill>
          <a:ln/>
        </p:spPr>
      </p:sp>
      <p:sp>
        <p:nvSpPr>
          <p:cNvPr id="7" name="Setting title"/>
          <p:cNvSpPr txBox="1"/>
          <p:nvPr/>
        </p:nvSpPr>
        <p:spPr>
          <a:xfrm>
            <a:off x="5989320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SSH from My IP only</a:t>
            </a:r>
            <a:endParaRPr lang="en-US" sz="1400" dirty="0"/>
          </a:p>
        </p:txBody>
      </p:sp>
      <p:sp>
        <p:nvSpPr>
          <p:cNvPr id="8" name="Setting detail"/>
          <p:cNvSpPr txBox="1"/>
          <p:nvPr/>
        </p:nvSpPr>
        <p:spPr>
          <a:xfrm>
            <a:off x="5989320" y="14904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A /32 rule on a new security group</a:t>
            </a:r>
            <a:endParaRPr lang="en-US" sz="1200" dirty="0"/>
          </a:p>
        </p:txBody>
      </p:sp>
      <p:sp>
        <p:nvSpPr>
          <p:cNvPr id="9" name="Setting card 2"/>
          <p:cNvSpPr/>
          <p:nvPr/>
        </p:nvSpPr>
        <p:spPr>
          <a:xfrm>
            <a:off x="5852160" y="2075688"/>
            <a:ext cx="2834640" cy="896112"/>
          </a:xfrm>
          <a:prstGeom prst="roundRect">
            <a:avLst>
              <a:gd name="adj" fmla="val 5102"/>
            </a:avLst>
          </a:prstGeom>
          <a:solidFill>
            <a:schemeClr val="tx2"/>
          </a:solidFill>
          <a:ln/>
        </p:spPr>
      </p:sp>
      <p:sp>
        <p:nvSpPr>
          <p:cNvPr id="10" name="Setting title"/>
          <p:cNvSpPr txBox="1"/>
          <p:nvPr/>
        </p:nvSpPr>
        <p:spPr>
          <a:xfrm>
            <a:off x="5989320" y="21671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HTTP and HTTPS closed</a:t>
            </a:r>
            <a:endParaRPr lang="en-US" sz="1400" dirty="0"/>
          </a:p>
        </p:txBody>
      </p:sp>
      <p:sp>
        <p:nvSpPr>
          <p:cNvPr id="11" name="Setting detail"/>
          <p:cNvSpPr txBox="1"/>
          <p:nvPr/>
        </p:nvSpPr>
        <p:spPr>
          <a:xfrm>
            <a:off x="5989320" y="2514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No web traffic is needed for the demo</a:t>
            </a:r>
            <a:endParaRPr lang="en-US" sz="1200" dirty="0"/>
          </a:p>
        </p:txBody>
      </p:sp>
      <p:sp>
        <p:nvSpPr>
          <p:cNvPr id="12" name="Setting card 3"/>
          <p:cNvSpPr/>
          <p:nvPr/>
        </p:nvSpPr>
        <p:spPr>
          <a:xfrm>
            <a:off x="5852160" y="3099816"/>
            <a:ext cx="2834640" cy="896112"/>
          </a:xfrm>
          <a:prstGeom prst="roundRect">
            <a:avLst>
              <a:gd name="adj" fmla="val 5102"/>
            </a:avLst>
          </a:prstGeom>
          <a:solidFill>
            <a:schemeClr val="tx2"/>
          </a:solidFill>
          <a:ln/>
        </p:spPr>
      </p:sp>
      <p:sp>
        <p:nvSpPr>
          <p:cNvPr id="13" name="Setting title"/>
          <p:cNvSpPr txBox="1"/>
          <p:nvPr/>
        </p:nvSpPr>
        <p:spPr>
          <a:xfrm>
            <a:off x="5989320" y="319125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8 GiB gp3 root volume</a:t>
            </a:r>
            <a:endParaRPr lang="en-US" sz="1400" dirty="0"/>
          </a:p>
        </p:txBody>
      </p:sp>
      <p:sp>
        <p:nvSpPr>
          <p:cNvPr id="14" name="Setting detail"/>
          <p:cNvSpPr txBox="1"/>
          <p:nvPr/>
        </p:nvSpPr>
        <p:spPr>
          <a:xfrm>
            <a:off x="5989320" y="35387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3000 IOPS, not encrypted</a:t>
            </a:r>
            <a:endParaRPr lang="en-US" sz="1200" dirty="0"/>
          </a:p>
        </p:txBody>
      </p:sp>
      <p:sp>
        <p:nvSpPr>
          <p:cNvPr id="15" name="Takeaway card"/>
          <p:cNvSpPr/>
          <p:nvPr/>
        </p:nvSpPr>
        <p:spPr>
          <a:xfrm>
            <a:off x="457200" y="4224528"/>
            <a:ext cx="8229600" cy="50292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16" name="Takeaway text"/>
          <p:cNvSpPr txBox="1"/>
          <p:nvPr/>
        </p:nvSpPr>
        <p:spPr>
          <a:xfrm>
            <a:off x="640080" y="42245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Only what the demo needs is open, which keeps a test server safe at no extra cost.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Launch Succeeded: Instance Running</a:t>
            </a:r>
            <a:endParaRPr lang="en-US" sz="2400" dirty="0"/>
          </a:p>
        </p:txBody>
      </p:sp>
      <p:sp>
        <p:nvSpPr>
          <p:cNvPr id="4" name="Launch success frame"/>
          <p:cNvSpPr/>
          <p:nvPr/>
        </p:nvSpPr>
        <p:spPr>
          <a:xfrm>
            <a:off x="420624" y="1014984"/>
            <a:ext cx="4005072" cy="2530346"/>
          </a:xfrm>
          <a:prstGeom prst="rect">
            <a:avLst/>
          </a:prstGeom>
          <a:solidFill>
            <a:schemeClr val="tx2"/>
          </a:solidFill>
          <a:ln w="9525">
            <a:solidFill>
              <a:schemeClr val="bg2"/>
            </a:solidFill>
            <a:prstDash val="solid"/>
          </a:ln>
        </p:spPr>
      </p:sp>
      <p:pic>
        <p:nvPicPr>
          <p:cNvPr id="5" name="Launch success" descr="Launch succe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931920" cy="2457194"/>
          </a:xfrm>
          <a:prstGeom prst="rect">
            <a:avLst/>
          </a:prstGeom>
        </p:spPr>
      </p:pic>
      <p:sp>
        <p:nvSpPr>
          <p:cNvPr id="6" name="Instance running frame"/>
          <p:cNvSpPr/>
          <p:nvPr/>
        </p:nvSpPr>
        <p:spPr>
          <a:xfrm>
            <a:off x="4718304" y="1014984"/>
            <a:ext cx="4005072" cy="2530346"/>
          </a:xfrm>
          <a:prstGeom prst="rect">
            <a:avLst/>
          </a:prstGeom>
          <a:solidFill>
            <a:schemeClr val="tx2"/>
          </a:solidFill>
          <a:ln w="9525">
            <a:solidFill>
              <a:schemeClr val="bg2"/>
            </a:solidFill>
            <a:prstDash val="solid"/>
          </a:ln>
        </p:spPr>
      </p:sp>
      <p:pic>
        <p:nvPicPr>
          <p:cNvPr id="7" name="Instance running" descr="Instance runn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051560"/>
            <a:ext cx="3931920" cy="2457194"/>
          </a:xfrm>
          <a:prstGeom prst="rect">
            <a:avLst/>
          </a:prstGeom>
        </p:spPr>
      </p:pic>
      <p:sp>
        <p:nvSpPr>
          <p:cNvPr id="8" name="Caption Success:"/>
          <p:cNvSpPr txBox="1"/>
          <p:nvPr/>
        </p:nvSpPr>
        <p:spPr>
          <a:xfrm>
            <a:off x="457200" y="3611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Success:  </a:t>
            </a:r>
            <a:r>
              <a:rPr lang="en-US" sz="1200" dirty="0">
                <a:solidFill>
                  <a:schemeClr val="bg1"/>
                </a:solidFill>
              </a:rPr>
              <a:t>Launch of instance i-0f37ca7c92798404c initiated.</a:t>
            </a:r>
            <a:endParaRPr lang="en-US" sz="1200" dirty="0"/>
          </a:p>
        </p:txBody>
      </p:sp>
      <p:sp>
        <p:nvSpPr>
          <p:cNvPr id="9" name="Caption Running:"/>
          <p:cNvSpPr txBox="1"/>
          <p:nvPr/>
        </p:nvSpPr>
        <p:spPr>
          <a:xfrm>
            <a:off x="4754880" y="3611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Running:  </a:t>
            </a:r>
            <a:r>
              <a:rPr lang="en-US" sz="1200" dirty="0">
                <a:solidFill>
                  <a:schemeClr val="bg1"/>
                </a:solidFill>
              </a:rPr>
              <a:t>t3.micro in us-east-1c, status check initializing.</a:t>
            </a:r>
            <a:endParaRPr lang="en-US" sz="1200" dirty="0"/>
          </a:p>
        </p:txBody>
      </p:sp>
      <p:sp>
        <p:nvSpPr>
          <p:cNvPr id="10" name="Takeaway card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11" name="Takeaway text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The status check moves from Initializing to passed within a few minutes of boot.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Tagging the Instance</a:t>
            </a:r>
            <a:endParaRPr lang="en-US" sz="2400" dirty="0"/>
          </a:p>
        </p:txBody>
      </p:sp>
      <p:sp>
        <p:nvSpPr>
          <p:cNvPr id="4" name="Manage tags frame"/>
          <p:cNvSpPr/>
          <p:nvPr/>
        </p:nvSpPr>
        <p:spPr>
          <a:xfrm>
            <a:off x="420624" y="1014984"/>
            <a:ext cx="4005072" cy="2530346"/>
          </a:xfrm>
          <a:prstGeom prst="rect">
            <a:avLst/>
          </a:prstGeom>
          <a:solidFill>
            <a:schemeClr val="tx2"/>
          </a:solidFill>
          <a:ln w="9525">
            <a:solidFill>
              <a:schemeClr val="bg2"/>
            </a:solidFill>
            <a:prstDash val="solid"/>
          </a:ln>
        </p:spPr>
      </p:sp>
      <p:pic>
        <p:nvPicPr>
          <p:cNvPr id="5" name="Manage tags" descr="Manage tag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931920" cy="2457194"/>
          </a:xfrm>
          <a:prstGeom prst="rect">
            <a:avLst/>
          </a:prstGeom>
        </p:spPr>
      </p:pic>
      <p:sp>
        <p:nvSpPr>
          <p:cNvPr id="6" name="Tags saved frame"/>
          <p:cNvSpPr/>
          <p:nvPr/>
        </p:nvSpPr>
        <p:spPr>
          <a:xfrm>
            <a:off x="4718304" y="1014984"/>
            <a:ext cx="4005072" cy="2530346"/>
          </a:xfrm>
          <a:prstGeom prst="rect">
            <a:avLst/>
          </a:prstGeom>
          <a:solidFill>
            <a:schemeClr val="tx2"/>
          </a:solidFill>
          <a:ln w="9525">
            <a:solidFill>
              <a:schemeClr val="bg2"/>
            </a:solidFill>
            <a:prstDash val="solid"/>
          </a:ln>
        </p:spPr>
      </p:sp>
      <p:pic>
        <p:nvPicPr>
          <p:cNvPr id="7" name="Tags saved" descr="Tags sav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051560"/>
            <a:ext cx="3931920" cy="2457194"/>
          </a:xfrm>
          <a:prstGeom prst="rect">
            <a:avLst/>
          </a:prstGeom>
        </p:spPr>
      </p:pic>
      <p:sp>
        <p:nvSpPr>
          <p:cNvPr id="8" name="Caption Manage tags:"/>
          <p:cNvSpPr txBox="1"/>
          <p:nvPr/>
        </p:nvSpPr>
        <p:spPr>
          <a:xfrm>
            <a:off x="457200" y="3611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Manage tags:  </a:t>
            </a:r>
            <a:r>
              <a:rPr lang="en-US" sz="1200" dirty="0">
                <a:solidFill>
                  <a:schemeClr val="bg1"/>
                </a:solidFill>
              </a:rPr>
              <a:t>Name, Project, Environment and Purpose.</a:t>
            </a:r>
            <a:endParaRPr lang="en-US" sz="1200" dirty="0"/>
          </a:p>
        </p:txBody>
      </p:sp>
      <p:sp>
        <p:nvSpPr>
          <p:cNvPr id="9" name="Caption Saved:"/>
          <p:cNvSpPr txBox="1"/>
          <p:nvPr/>
        </p:nvSpPr>
        <p:spPr>
          <a:xfrm>
            <a:off x="4754880" y="3611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Saved:  </a:t>
            </a:r>
            <a:r>
              <a:rPr lang="en-US" sz="1200" dirty="0">
                <a:solidFill>
                  <a:schemeClr val="bg1"/>
                </a:solidFill>
              </a:rPr>
              <a:t>"Request to manage tags has succeeded".</a:t>
            </a:r>
            <a:endParaRPr lang="en-US" sz="1200" dirty="0"/>
          </a:p>
        </p:txBody>
      </p:sp>
      <p:sp>
        <p:nvSpPr>
          <p:cNvPr id="10" name="Takeaway card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11" name="Takeaway text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Project: Compute-Optimizer-Rightsizing   |   Environment: Demo   |   Purpose: Rightsizing Analysis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CloudWatch: First Readings</a:t>
            </a:r>
            <a:endParaRPr lang="en-US" sz="2400" dirty="0"/>
          </a:p>
        </p:txBody>
      </p:sp>
      <p:sp>
        <p:nvSpPr>
          <p:cNvPr id="4" name="CloudWatch first readings frame"/>
          <p:cNvSpPr/>
          <p:nvPr/>
        </p:nvSpPr>
        <p:spPr>
          <a:xfrm>
            <a:off x="420624" y="1014984"/>
            <a:ext cx="4919472" cy="3101786"/>
          </a:xfrm>
          <a:prstGeom prst="rect">
            <a:avLst/>
          </a:prstGeom>
          <a:solidFill>
            <a:schemeClr val="tx2"/>
          </a:solidFill>
          <a:ln w="9525">
            <a:solidFill>
              <a:schemeClr val="bg2"/>
            </a:solidFill>
            <a:prstDash val="solid"/>
          </a:ln>
        </p:spPr>
      </p:sp>
      <p:pic>
        <p:nvPicPr>
          <p:cNvPr id="5" name="CloudWatch first readings" descr="CloudWatch first reading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4846320" cy="3028634"/>
          </a:xfrm>
          <a:prstGeom prst="rect">
            <a:avLst/>
          </a:prstGeom>
        </p:spPr>
      </p:pic>
      <p:sp>
        <p:nvSpPr>
          <p:cNvPr id="6" name="Stat card CPUUtilization at 00:10 UTC"/>
          <p:cNvSpPr/>
          <p:nvPr/>
        </p:nvSpPr>
        <p:spPr>
          <a:xfrm>
            <a:off x="5852160" y="1051560"/>
            <a:ext cx="2834640" cy="91440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7" name="Stat value"/>
          <p:cNvSpPr txBox="1"/>
          <p:nvPr/>
        </p:nvSpPr>
        <p:spPr>
          <a:xfrm>
            <a:off x="6035040" y="1143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0.07%</a:t>
            </a:r>
            <a:endParaRPr lang="en-US" sz="2600" dirty="0"/>
          </a:p>
        </p:txBody>
      </p:sp>
      <p:sp>
        <p:nvSpPr>
          <p:cNvPr id="8" name="Stat label"/>
          <p:cNvSpPr txBox="1"/>
          <p:nvPr/>
        </p:nvSpPr>
        <p:spPr>
          <a:xfrm>
            <a:off x="6035040" y="1554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CPUUtilization at 00:10 UTC</a:t>
            </a:r>
            <a:endParaRPr lang="en-US" sz="1200" dirty="0"/>
          </a:p>
        </p:txBody>
      </p:sp>
      <p:sp>
        <p:nvSpPr>
          <p:cNvPr id="9" name="Stat card NetworkIn at 00:10 UTC"/>
          <p:cNvSpPr/>
          <p:nvPr/>
        </p:nvSpPr>
        <p:spPr>
          <a:xfrm>
            <a:off x="5852160" y="2103120"/>
            <a:ext cx="2834640" cy="91440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10" name="Stat value"/>
          <p:cNvSpPr txBox="1"/>
          <p:nvPr/>
        </p:nvSpPr>
        <p:spPr>
          <a:xfrm>
            <a:off x="603504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468</a:t>
            </a:r>
            <a:endParaRPr lang="en-US" sz="2600" dirty="0"/>
          </a:p>
        </p:txBody>
      </p:sp>
      <p:sp>
        <p:nvSpPr>
          <p:cNvPr id="11" name="Stat label"/>
          <p:cNvSpPr txBox="1"/>
          <p:nvPr/>
        </p:nvSpPr>
        <p:spPr>
          <a:xfrm>
            <a:off x="6035040" y="26060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NetworkIn at 00:10 UTC</a:t>
            </a:r>
            <a:endParaRPr lang="en-US" sz="1200" dirty="0"/>
          </a:p>
        </p:txBody>
      </p:sp>
      <p:sp>
        <p:nvSpPr>
          <p:cNvPr id="12" name="Stat card NetworkOut at 00:10 UTC"/>
          <p:cNvSpPr/>
          <p:nvPr/>
        </p:nvSpPr>
        <p:spPr>
          <a:xfrm>
            <a:off x="5852160" y="3154680"/>
            <a:ext cx="2834640" cy="91440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13" name="Stat value"/>
          <p:cNvSpPr txBox="1"/>
          <p:nvPr/>
        </p:nvSpPr>
        <p:spPr>
          <a:xfrm>
            <a:off x="603504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468</a:t>
            </a:r>
            <a:endParaRPr lang="en-US" sz="2600" dirty="0"/>
          </a:p>
        </p:txBody>
      </p:sp>
      <p:sp>
        <p:nvSpPr>
          <p:cNvPr id="14" name="Stat label"/>
          <p:cNvSpPr txBox="1"/>
          <p:nvPr/>
        </p:nvSpPr>
        <p:spPr>
          <a:xfrm>
            <a:off x="6035040" y="3657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NetworkOut at 00:10 UTC</a:t>
            </a:r>
            <a:endParaRPr lang="en-US" sz="1200" dirty="0"/>
          </a:p>
        </p:txBody>
      </p:sp>
      <p:sp>
        <p:nvSpPr>
          <p:cNvPr id="15" name="Takeaway card"/>
          <p:cNvSpPr/>
          <p:nvPr/>
        </p:nvSpPr>
        <p:spPr>
          <a:xfrm>
            <a:off x="457200" y="4224528"/>
            <a:ext cx="8229600" cy="50292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16" name="Takeaway text"/>
          <p:cNvSpPr txBox="1"/>
          <p:nvPr/>
        </p:nvSpPr>
        <p:spPr>
          <a:xfrm>
            <a:off x="640080" y="42245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A freshly booted, idle server: the raw evidence Compute Optimizer will weigh.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CloudWatch: Readings Over Three Hours</a:t>
            </a:r>
            <a:endParaRPr lang="en-US" sz="2400" dirty="0"/>
          </a:p>
        </p:txBody>
      </p:sp>
      <p:sp>
        <p:nvSpPr>
          <p:cNvPr id="4" name="CloudWatch readings over time frame"/>
          <p:cNvSpPr/>
          <p:nvPr/>
        </p:nvSpPr>
        <p:spPr>
          <a:xfrm>
            <a:off x="420624" y="1014984"/>
            <a:ext cx="4919472" cy="3101786"/>
          </a:xfrm>
          <a:prstGeom prst="rect">
            <a:avLst/>
          </a:prstGeom>
          <a:solidFill>
            <a:schemeClr val="tx2"/>
          </a:solidFill>
          <a:ln w="9525">
            <a:solidFill>
              <a:schemeClr val="bg2"/>
            </a:solidFill>
            <a:prstDash val="solid"/>
          </a:ln>
        </p:spPr>
      </p:sp>
      <p:pic>
        <p:nvPicPr>
          <p:cNvPr id="5" name="CloudWatch readings over time" descr="CloudWatch readings over tim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4846320" cy="3028634"/>
          </a:xfrm>
          <a:prstGeom prst="rect">
            <a:avLst/>
          </a:prstGeom>
        </p:spPr>
      </p:pic>
      <p:sp>
        <p:nvSpPr>
          <p:cNvPr id="6" name="Stat card CPUUtilization at 01:35 UTC"/>
          <p:cNvSpPr/>
          <p:nvPr/>
        </p:nvSpPr>
        <p:spPr>
          <a:xfrm>
            <a:off x="5852160" y="1051560"/>
            <a:ext cx="2834640" cy="91440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7" name="Stat value"/>
          <p:cNvSpPr txBox="1"/>
          <p:nvPr/>
        </p:nvSpPr>
        <p:spPr>
          <a:xfrm>
            <a:off x="6035040" y="1143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0.173%</a:t>
            </a:r>
            <a:endParaRPr lang="en-US" sz="2600" dirty="0"/>
          </a:p>
        </p:txBody>
      </p:sp>
      <p:sp>
        <p:nvSpPr>
          <p:cNvPr id="8" name="Stat label"/>
          <p:cNvSpPr txBox="1"/>
          <p:nvPr/>
        </p:nvSpPr>
        <p:spPr>
          <a:xfrm>
            <a:off x="6035040" y="15544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CPUUtilization at 01:35 UTC</a:t>
            </a:r>
            <a:endParaRPr lang="en-US" sz="1200" dirty="0"/>
          </a:p>
        </p:txBody>
      </p:sp>
      <p:sp>
        <p:nvSpPr>
          <p:cNvPr id="9" name="Stat card NetworkIn at 01:35 UTC"/>
          <p:cNvSpPr/>
          <p:nvPr/>
        </p:nvSpPr>
        <p:spPr>
          <a:xfrm>
            <a:off x="5852160" y="2103120"/>
            <a:ext cx="2834640" cy="91440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10" name="Stat value"/>
          <p:cNvSpPr txBox="1"/>
          <p:nvPr/>
        </p:nvSpPr>
        <p:spPr>
          <a:xfrm>
            <a:off x="603504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1,553.6</a:t>
            </a:r>
            <a:endParaRPr lang="en-US" sz="2600" dirty="0"/>
          </a:p>
        </p:txBody>
      </p:sp>
      <p:sp>
        <p:nvSpPr>
          <p:cNvPr id="11" name="Stat label"/>
          <p:cNvSpPr txBox="1"/>
          <p:nvPr/>
        </p:nvSpPr>
        <p:spPr>
          <a:xfrm>
            <a:off x="6035040" y="26060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NetworkIn at 01:35 UTC</a:t>
            </a:r>
            <a:endParaRPr lang="en-US" sz="1200" dirty="0"/>
          </a:p>
        </p:txBody>
      </p:sp>
      <p:sp>
        <p:nvSpPr>
          <p:cNvPr id="12" name="Stat card NetworkOut at 01:35 UTC"/>
          <p:cNvSpPr/>
          <p:nvPr/>
        </p:nvSpPr>
        <p:spPr>
          <a:xfrm>
            <a:off x="5852160" y="3154680"/>
            <a:ext cx="2834640" cy="91440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13" name="Stat value"/>
          <p:cNvSpPr txBox="1"/>
          <p:nvPr/>
        </p:nvSpPr>
        <p:spPr>
          <a:xfrm>
            <a:off x="603504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1,146.2</a:t>
            </a:r>
            <a:endParaRPr lang="en-US" sz="2600" dirty="0"/>
          </a:p>
        </p:txBody>
      </p:sp>
      <p:sp>
        <p:nvSpPr>
          <p:cNvPr id="14" name="Stat label"/>
          <p:cNvSpPr txBox="1"/>
          <p:nvPr/>
        </p:nvSpPr>
        <p:spPr>
          <a:xfrm>
            <a:off x="6035040" y="3657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NetworkOut at 01:35 UTC</a:t>
            </a:r>
            <a:endParaRPr lang="en-US" sz="1200" dirty="0"/>
          </a:p>
        </p:txBody>
      </p:sp>
      <p:sp>
        <p:nvSpPr>
          <p:cNvPr id="15" name="Takeaway card"/>
          <p:cNvSpPr/>
          <p:nvPr/>
        </p:nvSpPr>
        <p:spPr>
          <a:xfrm>
            <a:off x="457200" y="4224528"/>
            <a:ext cx="8229600" cy="502920"/>
          </a:xfrm>
          <a:prstGeom prst="roundRect">
            <a:avLst>
              <a:gd name="adj" fmla="val 9091"/>
            </a:avLst>
          </a:prstGeom>
          <a:solidFill>
            <a:schemeClr val="tx2"/>
          </a:solidFill>
          <a:ln/>
        </p:spPr>
      </p:sp>
      <p:sp>
        <p:nvSpPr>
          <p:cNvPr id="16" name="Takeaway text"/>
          <p:cNvSpPr txBox="1"/>
          <p:nvPr/>
        </p:nvSpPr>
        <p:spPr>
          <a:xfrm>
            <a:off x="640080" y="42245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Network spikes about every 30 minutes; CPU never rises above about 0.17%.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Challenges Faced and How We Handled Them</a:t>
            </a:r>
            <a:endParaRPr lang="en-US" sz="2400" dirty="0"/>
          </a:p>
        </p:txBody>
      </p:sp>
      <p:graphicFrame>
        <p:nvGraphicFramePr>
          <p:cNvPr id="12" name="Challeng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Issue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Cause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Resolution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"Data not available" on dashboard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No workload yet; findings take up to 12 hours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Launched the demo instance and waited for data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Empty EC2 account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No instances in us-east-1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Created rightsizing-demo-ec2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Status check "Initializing"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Checks run after a new boot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Waited and refreshed; not a fault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Tags not set at launch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Wizard only offered the Name tag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Added three tags afterwards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Almost no activity in metrics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Idle instance: CPU 0.07 to 0.17%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Expected for a demo; add load if needed</a:t>
                      </a:r>
                      <a:endParaRPr lang="en-US" sz="1200" dirty="0"/>
                    </a:p>
                  </a:txBody>
                  <a:tcPr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Conclusion and Next Steps</a:t>
            </a:r>
            <a:endParaRPr lang="en-US" sz="2400" dirty="0"/>
          </a:p>
        </p:txBody>
      </p:sp>
      <p:sp>
        <p:nvSpPr>
          <p:cNvPr id="4" name="Conclusion card"/>
          <p:cNvSpPr/>
          <p:nvPr/>
        </p:nvSpPr>
        <p:spPr>
          <a:xfrm>
            <a:off x="457200" y="1051560"/>
            <a:ext cx="4023360" cy="2834640"/>
          </a:xfrm>
          <a:prstGeom prst="roundRect">
            <a:avLst>
              <a:gd name="adj" fmla="val 1613"/>
            </a:avLst>
          </a:prstGeom>
          <a:solidFill>
            <a:schemeClr val="tx2"/>
          </a:solidFill>
          <a:ln/>
        </p:spPr>
      </p:sp>
      <p:sp>
        <p:nvSpPr>
          <p:cNvPr id="5" name="Conclusion heading"/>
          <p:cNvSpPr txBox="1"/>
          <p:nvPr/>
        </p:nvSpPr>
        <p:spPr>
          <a:xfrm>
            <a:off x="64008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Conclusion</a:t>
            </a:r>
            <a:endParaRPr lang="en-US" sz="1600" dirty="0"/>
          </a:p>
        </p:txBody>
      </p:sp>
      <p:sp>
        <p:nvSpPr>
          <p:cNvPr id="6" name="Conclusion list"/>
          <p:cNvSpPr txBox="1"/>
          <p:nvPr/>
        </p:nvSpPr>
        <p:spPr>
          <a:xfrm>
            <a:off x="640080" y="16002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EC2 demo instance is running, labelled and tagged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CloudWatch metrics are flowing for CPU and network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Readings show a lightly used t3.micro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The foundation for Compute Optimizer analysis is in place</a:t>
            </a:r>
            <a:endParaRPr lang="en-US" sz="1300" dirty="0"/>
          </a:p>
        </p:txBody>
      </p:sp>
      <p:sp>
        <p:nvSpPr>
          <p:cNvPr id="7" name="Next Steps card"/>
          <p:cNvSpPr/>
          <p:nvPr/>
        </p:nvSpPr>
        <p:spPr>
          <a:xfrm>
            <a:off x="4663440" y="1051560"/>
            <a:ext cx="4023360" cy="2834640"/>
          </a:xfrm>
          <a:prstGeom prst="roundRect">
            <a:avLst>
              <a:gd name="adj" fmla="val 1613"/>
            </a:avLst>
          </a:prstGeom>
          <a:solidFill>
            <a:schemeClr val="tx2"/>
          </a:solidFill>
          <a:ln/>
        </p:spPr>
      </p:sp>
      <p:sp>
        <p:nvSpPr>
          <p:cNvPr id="8" name="Next Steps heading"/>
          <p:cNvSpPr txBox="1"/>
          <p:nvPr/>
        </p:nvSpPr>
        <p:spPr>
          <a:xfrm>
            <a:off x="484632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Next Steps</a:t>
            </a:r>
            <a:endParaRPr lang="en-US" sz="1600" dirty="0"/>
          </a:p>
        </p:txBody>
      </p:sp>
      <p:sp>
        <p:nvSpPr>
          <p:cNvPr id="9" name="Next Steps list"/>
          <p:cNvSpPr txBox="1"/>
          <p:nvPr/>
        </p:nvSpPr>
        <p:spPr>
          <a:xfrm>
            <a:off x="4846320" y="16002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Let utilization history build (about 30 hours)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Open Rightsizing, then EC2 instances in Compute Optimizer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Optionally add a controlled load test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Record the recommendation and savings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Stop or terminate the instance after the demo</a:t>
            </a:r>
            <a:endParaRPr lang="en-US" sz="1300" dirty="0"/>
          </a:p>
        </p:txBody>
      </p:sp>
      <p:sp>
        <p:nvSpPr>
          <p:cNvPr id="10" name="Thank you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THANK YOU  |  Questions?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vy Amber">
  <a:themeElements>
    <a:clrScheme name="Navy Amber">
      <a:dk1>
        <a:srgbClr val="0F1E3D"/>
      </a:dk1>
      <a:lt1>
        <a:srgbClr val="FFFFFF"/>
      </a:lt1>
      <a:dk2>
        <a:srgbClr val="1B2F5C"/>
      </a:dk2>
      <a:lt2>
        <a:srgbClr val="C5CEE0"/>
      </a:lt2>
      <a:accent1>
        <a:srgbClr val="F5A623"/>
      </a:accent1>
      <a:accent2>
        <a:srgbClr val="2E4A85"/>
      </a:accent2>
      <a:accent3>
        <a:srgbClr val="7FA3E0"/>
      </a:accent3>
      <a:accent4>
        <a:srgbClr val="FFD17A"/>
      </a:accent4>
      <a:accent5>
        <a:srgbClr val="4F6DA8"/>
      </a:accent5>
      <a:accent6>
        <a:srgbClr val="8FA3C7"/>
      </a:accent6>
      <a:hlink>
        <a:srgbClr val="F5A623"/>
      </a:hlink>
      <a:folHlink>
        <a:srgbClr val="C5CEE0"/>
      </a:folHlink>
    </a:clrScheme>
    <a:fontScheme name="Navy Ambe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976</Words>
  <Application>Microsoft Office PowerPoint</Application>
  <PresentationFormat>On-screen Show (16:9)</PresentationFormat>
  <Paragraphs>144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Navy Amber</vt:lpstr>
      <vt:lpstr>PowerPoint Presentation</vt:lpstr>
      <vt:lpstr>Problem Statement Analysis</vt:lpstr>
      <vt:lpstr>What We Implemented</vt:lpstr>
      <vt:lpstr>Starting Point: Data Will Come 12 Hours Later</vt:lpstr>
      <vt:lpstr>Launching rightsizing-demo-ec2</vt:lpstr>
      <vt:lpstr>Network, Security and Storage</vt:lpstr>
      <vt:lpstr>Launch Succeeded: Instance Running</vt:lpstr>
      <vt:lpstr>Tagging the Instance</vt:lpstr>
      <vt:lpstr>CloudWatch: First Readings</vt:lpstr>
      <vt:lpstr>CloudWatch: Readings Over Three Hours</vt:lpstr>
      <vt:lpstr>Challenges Faced and How We Handled Them</vt:lpstr>
      <vt:lpstr>Conclusion and Next Steps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Compute Optimizer Driven Rightsizing Programme - Implementation</dc:title>
  <dc:subject>PptxGenJS Presentation</dc:subject>
  <dc:creator>PptxGenJS</dc:creator>
  <cp:lastModifiedBy>Samarth V Ratnam</cp:lastModifiedBy>
  <cp:revision>2</cp:revision>
  <dcterms:created xsi:type="dcterms:W3CDTF">2026-10-04T03:20:55Z</dcterms:created>
  <dcterms:modified xsi:type="dcterms:W3CDTF">2026-10-04T03:34:12Z</dcterms:modified>
</cp:coreProperties>
</file>