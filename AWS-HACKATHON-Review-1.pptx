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p:bgPr>
    </p:bg>
    <p:spTree>
      <p:nvGrpSpPr>
        <p:cNvPr id="1" name=""/>
        <p:cNvGrpSpPr/>
        <p:nvPr/>
      </p:nvGrpSpPr>
      <p:grpSpPr>
        <a:xfrm>
          <a:off x="0" y="0"/>
          <a:ext cx="0" cy="0"/>
          <a:chOff x="0" y="0"/>
          <a:chExt cx="0" cy="0"/>
        </a:xfrm>
      </p:grpSpPr>
      <p:sp>
        <p:nvSpPr>
          <p:cNvPr id="2" name="Shape 0"/>
          <p:cNvSpPr/>
          <p:nvPr/>
        </p:nvSpPr>
        <p:spPr>
          <a:xfrm>
            <a:off x="640080" y="914400"/>
            <a:ext cx="73152" cy="1737360"/>
          </a:xfrm>
          <a:prstGeom prst="rect">
            <a:avLst/>
          </a:prstGeom>
          <a:solidFill>
            <a:srgbClr val="F5A623"/>
          </a:solidFill>
          <a:ln/>
        </p:spPr>
      </p:sp>
      <p:sp>
        <p:nvSpPr>
          <p:cNvPr id="3" name="Text 1"/>
          <p:cNvSpPr txBox="1"/>
          <p:nvPr/>
        </p:nvSpPr>
        <p:spPr>
          <a:xfrm>
            <a:off x="914400" y="914400"/>
            <a:ext cx="7315200" cy="365760"/>
          </a:xfrm>
          <a:prstGeom prst="rect">
            <a:avLst/>
          </a:prstGeom>
          <a:noFill/>
          <a:ln/>
        </p:spPr>
        <p:txBody>
          <a:bodyPr wrap="square" lIns="0" tIns="0" rIns="0" bIns="0" rtlCol="0" anchor="ctr"/>
          <a:lstStyle/>
          <a:p>
            <a:pPr indent="0" marL="0">
              <a:buNone/>
            </a:pPr>
            <a:r>
              <a:rPr lang="en-US" sz="1400" b="1" spc="300" kern="0" dirty="0">
                <a:solidFill>
                  <a:srgbClr val="F5A623"/>
                </a:solidFill>
                <a:latin typeface="Calibri" pitchFamily="34" charset="0"/>
                <a:ea typeface="Calibri" pitchFamily="34" charset="-122"/>
                <a:cs typeface="Calibri" pitchFamily="34" charset="-120"/>
              </a:rPr>
              <a:t>B.TECH MAJOR PROJECT</a:t>
            </a:r>
            <a:endParaRPr lang="en-US" sz="1400" dirty="0"/>
          </a:p>
        </p:txBody>
      </p:sp>
      <p:sp>
        <p:nvSpPr>
          <p:cNvPr id="4" name="Text 2"/>
          <p:cNvSpPr txBox="1"/>
          <p:nvPr/>
        </p:nvSpPr>
        <p:spPr>
          <a:xfrm>
            <a:off x="914400" y="1325880"/>
            <a:ext cx="7315200" cy="13716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AWS Compute Optimizer Driven Rightsizing Programme</a:t>
            </a:r>
            <a:endParaRPr lang="en-US" sz="3200" dirty="0"/>
          </a:p>
        </p:txBody>
      </p:sp>
      <p:sp>
        <p:nvSpPr>
          <p:cNvPr id="5" name="Text 3"/>
          <p:cNvSpPr txBox="1"/>
          <p:nvPr/>
        </p:nvSpPr>
        <p:spPr>
          <a:xfrm>
            <a:off x="914400" y="3108960"/>
            <a:ext cx="7315200" cy="1463040"/>
          </a:xfrm>
          <a:prstGeom prst="rect">
            <a:avLst/>
          </a:prstGeom>
          <a:noFill/>
          <a:ln/>
        </p:spPr>
        <p:txBody>
          <a:bodyPr wrap="square" lIns="0" tIns="0" rIns="0" bIns="0" rtlCol="0" anchor="t"/>
          <a:lstStyle/>
          <a:p>
            <a:pPr indent="0" marL="0">
              <a:spcAft>
                <a:spcPts val="200"/>
              </a:spcAft>
              <a:buNone/>
            </a:pPr>
            <a:r>
              <a:rPr lang="en-US" sz="1400" b="1" dirty="0">
                <a:solidFill>
                  <a:srgbClr val="C5CEE0"/>
                </a:solidFill>
                <a:latin typeface="Calibri" pitchFamily="34" charset="0"/>
                <a:ea typeface="Calibri" pitchFamily="34" charset="-122"/>
                <a:cs typeface="Calibri" pitchFamily="34" charset="-120"/>
              </a:rPr>
              <a:t>Team Members:</a:t>
            </a:r>
            <a:endParaRPr lang="en-US" sz="1400" dirty="0"/>
          </a:p>
          <a:p>
            <a:pPr indent="0" marL="0">
              <a:spcAft>
                <a:spcPts val="200"/>
              </a:spcAft>
              <a:buNone/>
            </a:pPr>
            <a:r>
              <a:rPr lang="en-US" sz="1400" dirty="0">
                <a:solidFill>
                  <a:srgbClr val="C5CEE0"/>
                </a:solidFill>
                <a:latin typeface="Calibri" pitchFamily="34" charset="0"/>
                <a:ea typeface="Calibri" pitchFamily="34" charset="-122"/>
                <a:cs typeface="Calibri" pitchFamily="34" charset="-120"/>
              </a:rPr>
              <a:t>2400032408 - Prem Prakash</a:t>
            </a:r>
            <a:endParaRPr lang="en-US" sz="1400" dirty="0"/>
          </a:p>
          <a:p>
            <a:pPr indent="0" marL="0">
              <a:spcAft>
                <a:spcPts val="200"/>
              </a:spcAft>
              <a:buNone/>
            </a:pPr>
            <a:r>
              <a:rPr lang="en-US" sz="1400" dirty="0">
                <a:solidFill>
                  <a:srgbClr val="C5CEE0"/>
                </a:solidFill>
                <a:latin typeface="Calibri" pitchFamily="34" charset="0"/>
                <a:ea typeface="Calibri" pitchFamily="34" charset="-122"/>
                <a:cs typeface="Calibri" pitchFamily="34" charset="-120"/>
              </a:rPr>
              <a:t>2400031777 - Tentu Divya Amrutha</a:t>
            </a:r>
            <a:endParaRPr lang="en-US" sz="1400" dirty="0"/>
          </a:p>
          <a:p>
            <a:pPr indent="0" marL="0">
              <a:spcAft>
                <a:spcPts val="200"/>
              </a:spcAft>
              <a:buNone/>
            </a:pPr>
            <a:r>
              <a:rPr lang="en-US" sz="1400" dirty="0">
                <a:solidFill>
                  <a:srgbClr val="C5CEE0"/>
                </a:solidFill>
                <a:latin typeface="Calibri" pitchFamily="34" charset="0"/>
                <a:ea typeface="Calibri" pitchFamily="34" charset="-122"/>
                <a:cs typeface="Calibri" pitchFamily="34" charset="-120"/>
              </a:rPr>
              <a:t>2400031637 - Chimakurthi Lakshmi Janani</a:t>
            </a:r>
            <a:endParaRPr lang="en-US" sz="1400" dirty="0"/>
          </a:p>
          <a:p>
            <a:pPr indent="0" marL="0">
              <a:spcAft>
                <a:spcPts val="200"/>
              </a:spcAft>
              <a:buNone/>
            </a:pPr>
            <a:r>
              <a:rPr lang="en-US" sz="1400" dirty="0">
                <a:solidFill>
                  <a:srgbClr val="C5CEE0"/>
                </a:solidFill>
                <a:latin typeface="Calibri" pitchFamily="34" charset="0"/>
                <a:ea typeface="Calibri" pitchFamily="34" charset="-122"/>
                <a:cs typeface="Calibri" pitchFamily="34" charset="-120"/>
              </a:rPr>
              <a:t>2400031630 - Samarth V Ratnam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Abstract</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2</a:t>
            </a:r>
            <a:endParaRPr lang="en-US" sz="1000" dirty="0"/>
          </a:p>
        </p:txBody>
      </p:sp>
      <p:sp>
        <p:nvSpPr>
          <p:cNvPr id="5" name="Text 3"/>
          <p:cNvSpPr txBox="1"/>
          <p:nvPr/>
        </p:nvSpPr>
        <p:spPr>
          <a:xfrm>
            <a:off x="457200" y="1143000"/>
            <a:ext cx="8229600" cy="3566160"/>
          </a:xfrm>
          <a:prstGeom prst="rect">
            <a:avLst/>
          </a:prstGeom>
          <a:noFill/>
          <a:ln/>
        </p:spPr>
        <p:txBody>
          <a:bodyPr wrap="square" lIns="0" tIns="0" rIns="0" bIns="0" rtlCol="0" anchor="t"/>
          <a:lstStyle/>
          <a:p>
            <a:pPr indent="0" marL="0">
              <a:lnSpc>
                <a:spcPct val="110000"/>
              </a:lnSpc>
              <a:spcAft>
                <a:spcPts val="1400"/>
              </a:spcAft>
              <a:buNone/>
            </a:pPr>
            <a:r>
              <a:rPr lang="en-US" sz="1400" dirty="0">
                <a:solidFill>
                  <a:srgbClr val="FFFFFF"/>
                </a:solidFill>
                <a:latin typeface="Calibri" pitchFamily="34" charset="0"/>
                <a:ea typeface="Calibri" pitchFamily="34" charset="-122"/>
                <a:cs typeface="Calibri" pitchFamily="34" charset="-120"/>
              </a:rPr>
              <a:t>Cloud computing lets organizations rent resources on demand, but choosing the right size for those resources is difficult. Rightsizing is the process of matching a resource, such as an EC2 instance, to what its workload actually needs. When a resource is larger than needed, the organization pays for capacity it never uses; when it is too small, applications slow down and users are affected. Because workloads change over time, a configuration that was correct at launch often becomes inefficient later.</a:t>
            </a:r>
            <a:endParaRPr lang="en-US" sz="1400" dirty="0"/>
          </a:p>
          <a:p>
            <a:pPr indent="0" marL="0">
              <a:lnSpc>
                <a:spcPct val="110000"/>
              </a:lnSpc>
              <a:spcAft>
                <a:spcPts val="1400"/>
              </a:spcAft>
              <a:buNone/>
            </a:pPr>
            <a:r>
              <a:rPr lang="en-US" sz="1400" dirty="0">
                <a:solidFill>
                  <a:srgbClr val="FFFFFF"/>
                </a:solidFill>
                <a:latin typeface="Calibri" pitchFamily="34" charset="0"/>
                <a:ea typeface="Calibri" pitchFamily="34" charset="-122"/>
                <a:cs typeface="Calibri" pitchFamily="34" charset="-120"/>
              </a:rPr>
              <a:t>AWS Compute Optimizer addresses this by analyzing usage metrics such as CPU, memory and network activity and recommending better configurations. The proposed programme builds on these recommendations: it collects them, evaluates each one against its savings and performance risk, and applies suitable changes to rightsize the resources, repeating the process regularly. The expected outcome is higher resource utilization, lower unnecessary spending and a more reliable, easier to manage cloud environment.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Introduction</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3</a:t>
            </a:r>
            <a:endParaRPr lang="en-US" sz="1000" dirty="0"/>
          </a:p>
        </p:txBody>
      </p:sp>
      <p:sp>
        <p:nvSpPr>
          <p:cNvPr id="5" name="Text 3"/>
          <p:cNvSpPr txBox="1"/>
          <p:nvPr/>
        </p:nvSpPr>
        <p:spPr>
          <a:xfrm>
            <a:off x="457200" y="1188720"/>
            <a:ext cx="4572000" cy="3291840"/>
          </a:xfrm>
          <a:prstGeom prst="rect">
            <a:avLst/>
          </a:prstGeom>
          <a:noFill/>
          <a:ln/>
        </p:spPr>
        <p:txBody>
          <a:bodyPr wrap="square" lIns="0" tIns="0" rIns="0" bIns="0" rtlCol="0" anchor="t"/>
          <a:lstStyle/>
          <a:p>
            <a:pPr indent="0" marL="0">
              <a:spcAft>
                <a:spcPts val="1000"/>
              </a:spcAft>
              <a:buNone/>
            </a:pPr>
            <a:r>
              <a:rPr lang="en-US" sz="1300" b="1" dirty="0">
                <a:solidFill>
                  <a:srgbClr val="F5A623"/>
                </a:solidFill>
                <a:latin typeface="Calibri" pitchFamily="34" charset="0"/>
                <a:ea typeface="Calibri" pitchFamily="34" charset="-122"/>
                <a:cs typeface="Calibri" pitchFamily="34" charset="-120"/>
              </a:rPr>
              <a:t>AWS Compute Optimizer </a:t>
            </a:r>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is an AWS service that analyzes resource usage and recommends optimal configurations.</a:t>
            </a:r>
            <a:endParaRPr lang="en-US" sz="1300" dirty="0"/>
          </a:p>
          <a:p>
            <a:pPr indent="0" marL="0">
              <a:spcAft>
                <a:spcPts val="1000"/>
              </a:spcAft>
              <a:buNone/>
            </a:pPr>
            <a:r>
              <a:rPr lang="en-US" sz="1300" b="1" dirty="0">
                <a:solidFill>
                  <a:srgbClr val="F5A623"/>
                </a:solidFill>
                <a:latin typeface="Calibri" pitchFamily="34" charset="0"/>
                <a:ea typeface="Calibri" pitchFamily="34" charset="-122"/>
                <a:cs typeface="Calibri" pitchFamily="34" charset="-120"/>
              </a:rPr>
              <a:t>Rightsizing </a:t>
            </a:r>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means changing a resource to the size that fits its real workload.</a:t>
            </a:r>
            <a:endParaRPr lang="en-US" sz="1300" dirty="0"/>
          </a:p>
          <a:p>
            <a:pPr indent="0" marL="0">
              <a:spcAft>
                <a:spcPts val="1000"/>
              </a:spcAft>
              <a:buNone/>
            </a:pPr>
            <a:r>
              <a:rPr lang="en-US" sz="1300" b="1" dirty="0">
                <a:solidFill>
                  <a:srgbClr val="F5A623"/>
                </a:solidFill>
                <a:latin typeface="Calibri" pitchFamily="34" charset="0"/>
                <a:ea typeface="Calibri" pitchFamily="34" charset="-122"/>
                <a:cs typeface="Calibri" pitchFamily="34" charset="-120"/>
              </a:rPr>
              <a:t>Over-provisioned </a:t>
            </a:r>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resources waste money; </a:t>
            </a:r>
            <a:pPr indent="0" marL="0">
              <a:spcAft>
                <a:spcPts val="1000"/>
              </a:spcAft>
              <a:buNone/>
            </a:pPr>
            <a:r>
              <a:rPr lang="en-US" sz="1300" b="1" dirty="0">
                <a:solidFill>
                  <a:srgbClr val="F5A623"/>
                </a:solidFill>
                <a:latin typeface="Calibri" pitchFamily="34" charset="0"/>
                <a:ea typeface="Calibri" pitchFamily="34" charset="-122"/>
                <a:cs typeface="Calibri" pitchFamily="34" charset="-120"/>
              </a:rPr>
              <a:t>under-provisioned </a:t>
            </a:r>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ones slow down applications. Workloads change over time, so resources drift away from the right size.</a:t>
            </a:r>
            <a:endParaRPr lang="en-US" sz="1300" dirty="0"/>
          </a:p>
          <a:p>
            <a:pPr indent="0" marL="0">
              <a:spcAft>
                <a:spcPts val="1000"/>
              </a:spcAft>
              <a:buNone/>
            </a:pPr>
            <a:r>
              <a:rPr lang="en-US" sz="1300" dirty="0">
                <a:solidFill>
                  <a:srgbClr val="FFFFFF"/>
                </a:solidFill>
                <a:latin typeface="Calibri" pitchFamily="34" charset="0"/>
                <a:ea typeface="Calibri" pitchFamily="34" charset="-122"/>
                <a:cs typeface="Calibri" pitchFamily="34" charset="-120"/>
              </a:rPr>
              <a:t>Organizations need continuous optimization, not a one-time check.</a:t>
            </a:r>
            <a:endParaRPr lang="en-US" sz="1300" dirty="0"/>
          </a:p>
        </p:txBody>
      </p:sp>
      <p:sp>
        <p:nvSpPr>
          <p:cNvPr id="6" name="Shape 4"/>
          <p:cNvSpPr/>
          <p:nvPr/>
        </p:nvSpPr>
        <p:spPr>
          <a:xfrm>
            <a:off x="5486400" y="1097280"/>
            <a:ext cx="3200400" cy="457200"/>
          </a:xfrm>
          <a:prstGeom prst="rect">
            <a:avLst/>
          </a:prstGeom>
          <a:solidFill>
            <a:srgbClr val="1B2F5C"/>
          </a:solidFill>
          <a:ln/>
        </p:spPr>
      </p:sp>
      <p:sp>
        <p:nvSpPr>
          <p:cNvPr id="7" name="Text 5"/>
          <p:cNvSpPr txBox="1"/>
          <p:nvPr/>
        </p:nvSpPr>
        <p:spPr>
          <a:xfrm>
            <a:off x="5486400" y="1097280"/>
            <a:ext cx="320040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AWS Resources</a:t>
            </a:r>
            <a:endParaRPr lang="en-US" sz="1200" dirty="0"/>
          </a:p>
        </p:txBody>
      </p:sp>
      <p:sp>
        <p:nvSpPr>
          <p:cNvPr id="8" name="Text 6"/>
          <p:cNvSpPr txBox="1"/>
          <p:nvPr/>
        </p:nvSpPr>
        <p:spPr>
          <a:xfrm>
            <a:off x="5486400" y="1536192"/>
            <a:ext cx="3200400" cy="246888"/>
          </a:xfrm>
          <a:prstGeom prst="rect">
            <a:avLst/>
          </a:prstGeom>
          <a:noFill/>
          <a:ln/>
        </p:spPr>
        <p:txBody>
          <a:bodyPr wrap="square" lIns="0" tIns="0" rIns="0" bIns="0" rtlCol="0" anchor="ctr"/>
          <a:lstStyle/>
          <a:p>
            <a:pPr algn="ctr" indent="0" marL="0">
              <a:buNone/>
            </a:pPr>
            <a:r>
              <a:rPr lang="en-US" sz="1200" dirty="0">
                <a:solidFill>
                  <a:srgbClr val="F5A623"/>
                </a:solidFill>
              </a:rPr>
              <a:t>↓</a:t>
            </a:r>
            <a:endParaRPr lang="en-US" sz="1200" dirty="0"/>
          </a:p>
        </p:txBody>
      </p:sp>
      <p:sp>
        <p:nvSpPr>
          <p:cNvPr id="9" name="Shape 7"/>
          <p:cNvSpPr/>
          <p:nvPr/>
        </p:nvSpPr>
        <p:spPr>
          <a:xfrm>
            <a:off x="5486400" y="1801368"/>
            <a:ext cx="3200400" cy="457200"/>
          </a:xfrm>
          <a:prstGeom prst="rect">
            <a:avLst/>
          </a:prstGeom>
          <a:solidFill>
            <a:srgbClr val="1B2F5C"/>
          </a:solidFill>
          <a:ln/>
        </p:spPr>
      </p:sp>
      <p:sp>
        <p:nvSpPr>
          <p:cNvPr id="10" name="Text 8"/>
          <p:cNvSpPr txBox="1"/>
          <p:nvPr/>
        </p:nvSpPr>
        <p:spPr>
          <a:xfrm>
            <a:off x="5486400" y="1801368"/>
            <a:ext cx="320040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Resource Usage</a:t>
            </a:r>
            <a:endParaRPr lang="en-US" sz="1200" dirty="0"/>
          </a:p>
        </p:txBody>
      </p:sp>
      <p:sp>
        <p:nvSpPr>
          <p:cNvPr id="11" name="Text 9"/>
          <p:cNvSpPr txBox="1"/>
          <p:nvPr/>
        </p:nvSpPr>
        <p:spPr>
          <a:xfrm>
            <a:off x="5486400" y="2240280"/>
            <a:ext cx="3200400" cy="246888"/>
          </a:xfrm>
          <a:prstGeom prst="rect">
            <a:avLst/>
          </a:prstGeom>
          <a:noFill/>
          <a:ln/>
        </p:spPr>
        <p:txBody>
          <a:bodyPr wrap="square" lIns="0" tIns="0" rIns="0" bIns="0" rtlCol="0" anchor="ctr"/>
          <a:lstStyle/>
          <a:p>
            <a:pPr algn="ctr" indent="0" marL="0">
              <a:buNone/>
            </a:pPr>
            <a:r>
              <a:rPr lang="en-US" sz="1200" dirty="0">
                <a:solidFill>
                  <a:srgbClr val="F5A623"/>
                </a:solidFill>
              </a:rPr>
              <a:t>↓</a:t>
            </a:r>
            <a:endParaRPr lang="en-US" sz="1200" dirty="0"/>
          </a:p>
        </p:txBody>
      </p:sp>
      <p:sp>
        <p:nvSpPr>
          <p:cNvPr id="12" name="Shape 10"/>
          <p:cNvSpPr/>
          <p:nvPr/>
        </p:nvSpPr>
        <p:spPr>
          <a:xfrm>
            <a:off x="5486400" y="2505456"/>
            <a:ext cx="3200400" cy="457200"/>
          </a:xfrm>
          <a:prstGeom prst="rect">
            <a:avLst/>
          </a:prstGeom>
          <a:solidFill>
            <a:srgbClr val="F5A623"/>
          </a:solidFill>
          <a:ln/>
        </p:spPr>
      </p:sp>
      <p:sp>
        <p:nvSpPr>
          <p:cNvPr id="13" name="Text 11"/>
          <p:cNvSpPr txBox="1"/>
          <p:nvPr/>
        </p:nvSpPr>
        <p:spPr>
          <a:xfrm>
            <a:off x="5486400" y="2505456"/>
            <a:ext cx="3200400" cy="457200"/>
          </a:xfrm>
          <a:prstGeom prst="rect">
            <a:avLst/>
          </a:prstGeom>
          <a:noFill/>
          <a:ln/>
        </p:spPr>
        <p:txBody>
          <a:bodyPr wrap="square" lIns="635" tIns="635" rIns="635" bIns="635" rtlCol="0" anchor="ctr"/>
          <a:lstStyle/>
          <a:p>
            <a:pPr algn="ctr" indent="0" marL="0">
              <a:buNone/>
            </a:pPr>
            <a:r>
              <a:rPr lang="en-US" sz="1200" b="1" dirty="0">
                <a:solidFill>
                  <a:srgbClr val="0F1E3D"/>
                </a:solidFill>
                <a:latin typeface="Calibri" pitchFamily="34" charset="0"/>
                <a:ea typeface="Calibri" pitchFamily="34" charset="-122"/>
                <a:cs typeface="Calibri" pitchFamily="34" charset="-120"/>
              </a:rPr>
              <a:t>Compute Optimizer</a:t>
            </a:r>
            <a:endParaRPr lang="en-US" sz="1200" dirty="0"/>
          </a:p>
        </p:txBody>
      </p:sp>
      <p:sp>
        <p:nvSpPr>
          <p:cNvPr id="14" name="Text 12"/>
          <p:cNvSpPr txBox="1"/>
          <p:nvPr/>
        </p:nvSpPr>
        <p:spPr>
          <a:xfrm>
            <a:off x="5486400" y="2944368"/>
            <a:ext cx="3200400" cy="246888"/>
          </a:xfrm>
          <a:prstGeom prst="rect">
            <a:avLst/>
          </a:prstGeom>
          <a:noFill/>
          <a:ln/>
        </p:spPr>
        <p:txBody>
          <a:bodyPr wrap="square" lIns="0" tIns="0" rIns="0" bIns="0" rtlCol="0" anchor="ctr"/>
          <a:lstStyle/>
          <a:p>
            <a:pPr algn="ctr" indent="0" marL="0">
              <a:buNone/>
            </a:pPr>
            <a:r>
              <a:rPr lang="en-US" sz="1200" dirty="0">
                <a:solidFill>
                  <a:srgbClr val="F5A623"/>
                </a:solidFill>
              </a:rPr>
              <a:t>↓</a:t>
            </a:r>
            <a:endParaRPr lang="en-US" sz="1200" dirty="0"/>
          </a:p>
        </p:txBody>
      </p:sp>
      <p:sp>
        <p:nvSpPr>
          <p:cNvPr id="15" name="Shape 13"/>
          <p:cNvSpPr/>
          <p:nvPr/>
        </p:nvSpPr>
        <p:spPr>
          <a:xfrm>
            <a:off x="5486400" y="3209544"/>
            <a:ext cx="3200400" cy="457200"/>
          </a:xfrm>
          <a:prstGeom prst="rect">
            <a:avLst/>
          </a:prstGeom>
          <a:solidFill>
            <a:srgbClr val="1B2F5C"/>
          </a:solidFill>
          <a:ln/>
        </p:spPr>
      </p:sp>
      <p:sp>
        <p:nvSpPr>
          <p:cNvPr id="16" name="Text 14"/>
          <p:cNvSpPr txBox="1"/>
          <p:nvPr/>
        </p:nvSpPr>
        <p:spPr>
          <a:xfrm>
            <a:off x="5486400" y="3209544"/>
            <a:ext cx="320040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Optimization Recommendations</a:t>
            </a:r>
            <a:endParaRPr lang="en-US" sz="1200" dirty="0"/>
          </a:p>
        </p:txBody>
      </p:sp>
      <p:sp>
        <p:nvSpPr>
          <p:cNvPr id="17" name="Text 15"/>
          <p:cNvSpPr txBox="1"/>
          <p:nvPr/>
        </p:nvSpPr>
        <p:spPr>
          <a:xfrm>
            <a:off x="5486400" y="3648456"/>
            <a:ext cx="3200400" cy="246888"/>
          </a:xfrm>
          <a:prstGeom prst="rect">
            <a:avLst/>
          </a:prstGeom>
          <a:noFill/>
          <a:ln/>
        </p:spPr>
        <p:txBody>
          <a:bodyPr wrap="square" lIns="0" tIns="0" rIns="0" bIns="0" rtlCol="0" anchor="ctr"/>
          <a:lstStyle/>
          <a:p>
            <a:pPr algn="ctr" indent="0" marL="0">
              <a:buNone/>
            </a:pPr>
            <a:r>
              <a:rPr lang="en-US" sz="1200" dirty="0">
                <a:solidFill>
                  <a:srgbClr val="F5A623"/>
                </a:solidFill>
              </a:rPr>
              <a:t>↓</a:t>
            </a:r>
            <a:endParaRPr lang="en-US" sz="1200" dirty="0"/>
          </a:p>
        </p:txBody>
      </p:sp>
      <p:sp>
        <p:nvSpPr>
          <p:cNvPr id="18" name="Shape 16"/>
          <p:cNvSpPr/>
          <p:nvPr/>
        </p:nvSpPr>
        <p:spPr>
          <a:xfrm>
            <a:off x="5486400" y="3913632"/>
            <a:ext cx="3200400" cy="457200"/>
          </a:xfrm>
          <a:prstGeom prst="rect">
            <a:avLst/>
          </a:prstGeom>
          <a:solidFill>
            <a:srgbClr val="1B2F5C"/>
          </a:solidFill>
          <a:ln/>
        </p:spPr>
      </p:sp>
      <p:sp>
        <p:nvSpPr>
          <p:cNvPr id="19" name="Text 17"/>
          <p:cNvSpPr txBox="1"/>
          <p:nvPr/>
        </p:nvSpPr>
        <p:spPr>
          <a:xfrm>
            <a:off x="5486400" y="3913632"/>
            <a:ext cx="320040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Rightsizing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4</a:t>
            </a:r>
            <a:endParaRPr lang="en-US" sz="1000" dirty="0"/>
          </a:p>
        </p:txBody>
      </p:sp>
      <p:sp>
        <p:nvSpPr>
          <p:cNvPr id="5" name="Shape 3"/>
          <p:cNvSpPr/>
          <p:nvPr/>
        </p:nvSpPr>
        <p:spPr>
          <a:xfrm>
            <a:off x="457200" y="1143000"/>
            <a:ext cx="4023360" cy="3520440"/>
          </a:xfrm>
          <a:prstGeom prst="rect">
            <a:avLst/>
          </a:prstGeom>
          <a:solidFill>
            <a:srgbClr val="1B2F5C"/>
          </a:solidFill>
          <a:ln/>
        </p:spPr>
      </p:sp>
      <p:sp>
        <p:nvSpPr>
          <p:cNvPr id="6" name="Shape 4"/>
          <p:cNvSpPr/>
          <p:nvPr/>
        </p:nvSpPr>
        <p:spPr>
          <a:xfrm>
            <a:off x="457200" y="1143000"/>
            <a:ext cx="4023360" cy="54864"/>
          </a:xfrm>
          <a:prstGeom prst="rect">
            <a:avLst/>
          </a:prstGeom>
          <a:solidFill>
            <a:srgbClr val="F5A623"/>
          </a:solidFill>
          <a:ln/>
        </p:spPr>
      </p:sp>
      <p:sp>
        <p:nvSpPr>
          <p:cNvPr id="7" name="Text 5"/>
          <p:cNvSpPr txBox="1"/>
          <p:nvPr/>
        </p:nvSpPr>
        <p:spPr>
          <a:xfrm>
            <a:off x="640080" y="1280160"/>
            <a:ext cx="3657600" cy="32004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Cost / Resource Problems</a:t>
            </a:r>
            <a:endParaRPr lang="en-US" sz="1500" dirty="0"/>
          </a:p>
        </p:txBody>
      </p:sp>
      <p:sp>
        <p:nvSpPr>
          <p:cNvPr id="8" name="Text 6"/>
          <p:cNvSpPr txBox="1"/>
          <p:nvPr/>
        </p:nvSpPr>
        <p:spPr>
          <a:xfrm>
            <a:off x="640080" y="1691640"/>
            <a:ext cx="3657600" cy="2834640"/>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Cloud resources are often provisioned larger than necessary because teams prefer to be on the safe side. For example, an EC2 instance may run at very low CPU use for months and still be billed in full. The bottleneck is that unused capacity stays invisible unless usage is examined, so resources remain over-provisioned or underutilized and spending grows without adding value. The possible approach is to measure actual utilization and move each resource to the smaller size that still meets the workload, which reduces waste directly.</a:t>
            </a:r>
            <a:endParaRPr lang="en-US" sz="1200" dirty="0"/>
          </a:p>
        </p:txBody>
      </p:sp>
      <p:sp>
        <p:nvSpPr>
          <p:cNvPr id="9" name="Shape 7"/>
          <p:cNvSpPr/>
          <p:nvPr/>
        </p:nvSpPr>
        <p:spPr>
          <a:xfrm>
            <a:off x="4663440" y="1143000"/>
            <a:ext cx="4023360" cy="3520440"/>
          </a:xfrm>
          <a:prstGeom prst="rect">
            <a:avLst/>
          </a:prstGeom>
          <a:solidFill>
            <a:srgbClr val="1B2F5C"/>
          </a:solidFill>
          <a:ln/>
        </p:spPr>
      </p:sp>
      <p:sp>
        <p:nvSpPr>
          <p:cNvPr id="10" name="Shape 8"/>
          <p:cNvSpPr/>
          <p:nvPr/>
        </p:nvSpPr>
        <p:spPr>
          <a:xfrm>
            <a:off x="4663440" y="1143000"/>
            <a:ext cx="4023360" cy="54864"/>
          </a:xfrm>
          <a:prstGeom prst="rect">
            <a:avLst/>
          </a:prstGeom>
          <a:solidFill>
            <a:srgbClr val="F5A623"/>
          </a:solidFill>
          <a:ln/>
        </p:spPr>
      </p:sp>
      <p:sp>
        <p:nvSpPr>
          <p:cNvPr id="11" name="Text 9"/>
          <p:cNvSpPr txBox="1"/>
          <p:nvPr/>
        </p:nvSpPr>
        <p:spPr>
          <a:xfrm>
            <a:off x="4846320" y="1280160"/>
            <a:ext cx="3657600" cy="32004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Management / Optimization Problems</a:t>
            </a:r>
            <a:endParaRPr lang="en-US" sz="1500" dirty="0"/>
          </a:p>
        </p:txBody>
      </p:sp>
      <p:sp>
        <p:nvSpPr>
          <p:cNvPr id="12" name="Text 10"/>
          <p:cNvSpPr txBox="1"/>
          <p:nvPr/>
        </p:nvSpPr>
        <p:spPr>
          <a:xfrm>
            <a:off x="4846320" y="1691640"/>
            <a:ext cx="3657600" cy="2834640"/>
          </a:xfrm>
          <a:prstGeom prst="rect">
            <a:avLst/>
          </a:prstGeom>
          <a:noFill/>
          <a:ln/>
        </p:spPr>
        <p:txBody>
          <a:bodyPr wrap="square" lIns="0" tIns="0" rIns="0" bIns="0" rtlCol="0" anchor="t"/>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Finding these inefficiencies by hand is slow and error-prone, especially when an organization runs many instances across several accounts. Workload demand also keeps changing, so a size that was right once soon becomes outdated. The bottleneck is that manual analysis cannot keep up with the number of resources or the pace of change. The possible approach is to use AWS Compute Optimizer to analyze usage automatically and to review its recommendations regularly, so optimization becomes a continuous process instead of a one-time exercise.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Objectives</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5</a:t>
            </a:r>
            <a:endParaRPr lang="en-US" sz="1000" dirty="0"/>
          </a:p>
        </p:txBody>
      </p:sp>
      <p:sp>
        <p:nvSpPr>
          <p:cNvPr id="5" name="Shape 3"/>
          <p:cNvSpPr/>
          <p:nvPr/>
        </p:nvSpPr>
        <p:spPr>
          <a:xfrm>
            <a:off x="457200" y="1280160"/>
            <a:ext cx="2651760" cy="1554480"/>
          </a:xfrm>
          <a:prstGeom prst="rect">
            <a:avLst/>
          </a:prstGeom>
          <a:solidFill>
            <a:srgbClr val="1B2F5C"/>
          </a:solidFill>
          <a:ln/>
        </p:spPr>
      </p:sp>
      <p:sp>
        <p:nvSpPr>
          <p:cNvPr id="6" name="Text 4"/>
          <p:cNvSpPr txBox="1"/>
          <p:nvPr/>
        </p:nvSpPr>
        <p:spPr>
          <a:xfrm>
            <a:off x="640080" y="1417320"/>
            <a:ext cx="914400" cy="365760"/>
          </a:xfrm>
          <a:prstGeom prst="rect">
            <a:avLst/>
          </a:prstGeom>
          <a:noFill/>
          <a:ln/>
        </p:spPr>
        <p:txBody>
          <a:bodyPr wrap="square" lIns="0" tIns="0" rIns="0" bIns="0"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01</a:t>
            </a:r>
            <a:endParaRPr lang="en-US" sz="2000" dirty="0"/>
          </a:p>
        </p:txBody>
      </p:sp>
      <p:pic>
        <p:nvPicPr>
          <p:cNvPr id="7" name="Image 0" descr="preencoded.png">    </p:cNvPr>
          <p:cNvPicPr>
            <a:picLocks noChangeAspect="1"/>
          </p:cNvPicPr>
          <p:nvPr/>
        </p:nvPicPr>
        <p:blipFill>
          <a:blip r:embed="rId1"/>
          <a:stretch>
            <a:fillRect/>
          </a:stretch>
        </p:blipFill>
        <p:spPr>
          <a:xfrm>
            <a:off x="2468880" y="1417320"/>
            <a:ext cx="411480" cy="411480"/>
          </a:xfrm>
          <a:prstGeom prst="rect">
            <a:avLst/>
          </a:prstGeom>
        </p:spPr>
      </p:pic>
      <p:sp>
        <p:nvSpPr>
          <p:cNvPr id="8" name="Text 5"/>
          <p:cNvSpPr txBox="1"/>
          <p:nvPr/>
        </p:nvSpPr>
        <p:spPr>
          <a:xfrm>
            <a:off x="640080" y="2057400"/>
            <a:ext cx="228600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Identify over-provisioned resources</a:t>
            </a:r>
            <a:endParaRPr lang="en-US" sz="1400" dirty="0"/>
          </a:p>
        </p:txBody>
      </p:sp>
      <p:sp>
        <p:nvSpPr>
          <p:cNvPr id="9" name="Shape 6"/>
          <p:cNvSpPr/>
          <p:nvPr/>
        </p:nvSpPr>
        <p:spPr>
          <a:xfrm>
            <a:off x="3246120" y="1280160"/>
            <a:ext cx="2651760" cy="1554480"/>
          </a:xfrm>
          <a:prstGeom prst="rect">
            <a:avLst/>
          </a:prstGeom>
          <a:solidFill>
            <a:srgbClr val="1B2F5C"/>
          </a:solidFill>
          <a:ln/>
        </p:spPr>
      </p:sp>
      <p:sp>
        <p:nvSpPr>
          <p:cNvPr id="10" name="Text 7"/>
          <p:cNvSpPr txBox="1"/>
          <p:nvPr/>
        </p:nvSpPr>
        <p:spPr>
          <a:xfrm>
            <a:off x="3429000" y="1417320"/>
            <a:ext cx="914400" cy="365760"/>
          </a:xfrm>
          <a:prstGeom prst="rect">
            <a:avLst/>
          </a:prstGeom>
          <a:noFill/>
          <a:ln/>
        </p:spPr>
        <p:txBody>
          <a:bodyPr wrap="square" lIns="0" tIns="0" rIns="0" bIns="0"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02</a:t>
            </a:r>
            <a:endParaRPr lang="en-US" sz="2000" dirty="0"/>
          </a:p>
        </p:txBody>
      </p:sp>
      <p:pic>
        <p:nvPicPr>
          <p:cNvPr id="11" name="Image 1" descr="preencoded.png">    </p:cNvPr>
          <p:cNvPicPr>
            <a:picLocks noChangeAspect="1"/>
          </p:cNvPicPr>
          <p:nvPr/>
        </p:nvPicPr>
        <p:blipFill>
          <a:blip r:embed="rId2"/>
          <a:stretch>
            <a:fillRect/>
          </a:stretch>
        </p:blipFill>
        <p:spPr>
          <a:xfrm>
            <a:off x="5257800" y="1417320"/>
            <a:ext cx="411480" cy="411480"/>
          </a:xfrm>
          <a:prstGeom prst="rect">
            <a:avLst/>
          </a:prstGeom>
        </p:spPr>
      </p:pic>
      <p:sp>
        <p:nvSpPr>
          <p:cNvPr id="12" name="Text 8"/>
          <p:cNvSpPr txBox="1"/>
          <p:nvPr/>
        </p:nvSpPr>
        <p:spPr>
          <a:xfrm>
            <a:off x="3429000" y="2057400"/>
            <a:ext cx="228600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Detect underutilized resources</a:t>
            </a:r>
            <a:endParaRPr lang="en-US" sz="1400" dirty="0"/>
          </a:p>
        </p:txBody>
      </p:sp>
      <p:sp>
        <p:nvSpPr>
          <p:cNvPr id="13" name="Shape 9"/>
          <p:cNvSpPr/>
          <p:nvPr/>
        </p:nvSpPr>
        <p:spPr>
          <a:xfrm>
            <a:off x="6035040" y="1280160"/>
            <a:ext cx="2651760" cy="1554480"/>
          </a:xfrm>
          <a:prstGeom prst="rect">
            <a:avLst/>
          </a:prstGeom>
          <a:solidFill>
            <a:srgbClr val="1B2F5C"/>
          </a:solidFill>
          <a:ln/>
        </p:spPr>
      </p:sp>
      <p:sp>
        <p:nvSpPr>
          <p:cNvPr id="14" name="Text 10"/>
          <p:cNvSpPr txBox="1"/>
          <p:nvPr/>
        </p:nvSpPr>
        <p:spPr>
          <a:xfrm>
            <a:off x="6217920" y="1417320"/>
            <a:ext cx="914400" cy="365760"/>
          </a:xfrm>
          <a:prstGeom prst="rect">
            <a:avLst/>
          </a:prstGeom>
          <a:noFill/>
          <a:ln/>
        </p:spPr>
        <p:txBody>
          <a:bodyPr wrap="square" lIns="0" tIns="0" rIns="0" bIns="0"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03</a:t>
            </a:r>
            <a:endParaRPr lang="en-US" sz="2000" dirty="0"/>
          </a:p>
        </p:txBody>
      </p:sp>
      <p:pic>
        <p:nvPicPr>
          <p:cNvPr id="15" name="Image 2" descr="preencoded.png">    </p:cNvPr>
          <p:cNvPicPr>
            <a:picLocks noChangeAspect="1"/>
          </p:cNvPicPr>
          <p:nvPr/>
        </p:nvPicPr>
        <p:blipFill>
          <a:blip r:embed="rId3"/>
          <a:stretch>
            <a:fillRect/>
          </a:stretch>
        </p:blipFill>
        <p:spPr>
          <a:xfrm>
            <a:off x="8046720" y="1417320"/>
            <a:ext cx="411480" cy="411480"/>
          </a:xfrm>
          <a:prstGeom prst="rect">
            <a:avLst/>
          </a:prstGeom>
        </p:spPr>
      </p:pic>
      <p:sp>
        <p:nvSpPr>
          <p:cNvPr id="16" name="Text 11"/>
          <p:cNvSpPr txBox="1"/>
          <p:nvPr/>
        </p:nvSpPr>
        <p:spPr>
          <a:xfrm>
            <a:off x="6217920" y="2057400"/>
            <a:ext cx="228600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Use AWS Compute Optimizer recommendations</a:t>
            </a:r>
            <a:endParaRPr lang="en-US" sz="1400" dirty="0"/>
          </a:p>
        </p:txBody>
      </p:sp>
      <p:sp>
        <p:nvSpPr>
          <p:cNvPr id="17" name="Shape 12"/>
          <p:cNvSpPr/>
          <p:nvPr/>
        </p:nvSpPr>
        <p:spPr>
          <a:xfrm>
            <a:off x="457200" y="3017520"/>
            <a:ext cx="2651760" cy="1554480"/>
          </a:xfrm>
          <a:prstGeom prst="rect">
            <a:avLst/>
          </a:prstGeom>
          <a:solidFill>
            <a:srgbClr val="1B2F5C"/>
          </a:solidFill>
          <a:ln/>
        </p:spPr>
      </p:sp>
      <p:sp>
        <p:nvSpPr>
          <p:cNvPr id="18" name="Text 13"/>
          <p:cNvSpPr txBox="1"/>
          <p:nvPr/>
        </p:nvSpPr>
        <p:spPr>
          <a:xfrm>
            <a:off x="640080" y="3154680"/>
            <a:ext cx="914400" cy="365760"/>
          </a:xfrm>
          <a:prstGeom prst="rect">
            <a:avLst/>
          </a:prstGeom>
          <a:noFill/>
          <a:ln/>
        </p:spPr>
        <p:txBody>
          <a:bodyPr wrap="square" lIns="0" tIns="0" rIns="0" bIns="0"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04</a:t>
            </a:r>
            <a:endParaRPr lang="en-US" sz="2000" dirty="0"/>
          </a:p>
        </p:txBody>
      </p:sp>
      <p:pic>
        <p:nvPicPr>
          <p:cNvPr id="19" name="Image 3" descr="preencoded.png">    </p:cNvPr>
          <p:cNvPicPr>
            <a:picLocks noChangeAspect="1"/>
          </p:cNvPicPr>
          <p:nvPr/>
        </p:nvPicPr>
        <p:blipFill>
          <a:blip r:embed="rId4"/>
          <a:stretch>
            <a:fillRect/>
          </a:stretch>
        </p:blipFill>
        <p:spPr>
          <a:xfrm>
            <a:off x="2468880" y="3154680"/>
            <a:ext cx="411480" cy="411480"/>
          </a:xfrm>
          <a:prstGeom prst="rect">
            <a:avLst/>
          </a:prstGeom>
        </p:spPr>
      </p:pic>
      <p:sp>
        <p:nvSpPr>
          <p:cNvPr id="20" name="Text 14"/>
          <p:cNvSpPr txBox="1"/>
          <p:nvPr/>
        </p:nvSpPr>
        <p:spPr>
          <a:xfrm>
            <a:off x="640080" y="3794760"/>
            <a:ext cx="228600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Improve resource utilization</a:t>
            </a:r>
            <a:endParaRPr lang="en-US" sz="1400" dirty="0"/>
          </a:p>
        </p:txBody>
      </p:sp>
      <p:sp>
        <p:nvSpPr>
          <p:cNvPr id="21" name="Shape 15"/>
          <p:cNvSpPr/>
          <p:nvPr/>
        </p:nvSpPr>
        <p:spPr>
          <a:xfrm>
            <a:off x="3246120" y="3017520"/>
            <a:ext cx="2651760" cy="1554480"/>
          </a:xfrm>
          <a:prstGeom prst="rect">
            <a:avLst/>
          </a:prstGeom>
          <a:solidFill>
            <a:srgbClr val="1B2F5C"/>
          </a:solidFill>
          <a:ln/>
        </p:spPr>
      </p:sp>
      <p:sp>
        <p:nvSpPr>
          <p:cNvPr id="22" name="Text 16"/>
          <p:cNvSpPr txBox="1"/>
          <p:nvPr/>
        </p:nvSpPr>
        <p:spPr>
          <a:xfrm>
            <a:off x="3429000" y="3154680"/>
            <a:ext cx="914400" cy="365760"/>
          </a:xfrm>
          <a:prstGeom prst="rect">
            <a:avLst/>
          </a:prstGeom>
          <a:noFill/>
          <a:ln/>
        </p:spPr>
        <p:txBody>
          <a:bodyPr wrap="square" lIns="0" tIns="0" rIns="0" bIns="0" rtlCol="0" anchor="ctr"/>
          <a:lstStyle/>
          <a:p>
            <a:pPr indent="0" marL="0">
              <a:buNone/>
            </a:pPr>
            <a:r>
              <a:rPr lang="en-US" sz="2000" b="1" dirty="0">
                <a:solidFill>
                  <a:srgbClr val="F5A623"/>
                </a:solidFill>
                <a:latin typeface="Calibri" pitchFamily="34" charset="0"/>
                <a:ea typeface="Calibri" pitchFamily="34" charset="-122"/>
                <a:cs typeface="Calibri" pitchFamily="34" charset="-120"/>
              </a:rPr>
              <a:t>05</a:t>
            </a:r>
            <a:endParaRPr lang="en-US" sz="2000" dirty="0"/>
          </a:p>
        </p:txBody>
      </p:sp>
      <p:pic>
        <p:nvPicPr>
          <p:cNvPr id="23" name="Image 4" descr="preencoded.png">    </p:cNvPr>
          <p:cNvPicPr>
            <a:picLocks noChangeAspect="1"/>
          </p:cNvPicPr>
          <p:nvPr/>
        </p:nvPicPr>
        <p:blipFill>
          <a:blip r:embed="rId5"/>
          <a:stretch>
            <a:fillRect/>
          </a:stretch>
        </p:blipFill>
        <p:spPr>
          <a:xfrm>
            <a:off x="5257800" y="3154680"/>
            <a:ext cx="411480" cy="411480"/>
          </a:xfrm>
          <a:prstGeom prst="rect">
            <a:avLst/>
          </a:prstGeom>
        </p:spPr>
      </p:pic>
      <p:sp>
        <p:nvSpPr>
          <p:cNvPr id="24" name="Text 17"/>
          <p:cNvSpPr txBox="1"/>
          <p:nvPr/>
        </p:nvSpPr>
        <p:spPr>
          <a:xfrm>
            <a:off x="3429000" y="3794760"/>
            <a:ext cx="228600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Reduce unnecessary cloud expenditure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Proposed Solution / Core Idea</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6</a:t>
            </a:r>
            <a:endParaRPr lang="en-US" sz="1000" dirty="0"/>
          </a:p>
        </p:txBody>
      </p:sp>
      <p:sp>
        <p:nvSpPr>
          <p:cNvPr id="5" name="Shape 3"/>
          <p:cNvSpPr/>
          <p:nvPr/>
        </p:nvSpPr>
        <p:spPr>
          <a:xfrm>
            <a:off x="274320" y="1463040"/>
            <a:ext cx="1051560" cy="1005840"/>
          </a:xfrm>
          <a:prstGeom prst="rect">
            <a:avLst/>
          </a:prstGeom>
          <a:solidFill>
            <a:srgbClr val="1B2F5C"/>
          </a:solidFill>
          <a:ln/>
        </p:spPr>
      </p:sp>
      <p:sp>
        <p:nvSpPr>
          <p:cNvPr id="6" name="Text 4"/>
          <p:cNvSpPr txBox="1"/>
          <p:nvPr/>
        </p:nvSpPr>
        <p:spPr>
          <a:xfrm>
            <a:off x="274320"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AWS Resources</a:t>
            </a:r>
            <a:endParaRPr lang="en-US" sz="1100" dirty="0"/>
          </a:p>
        </p:txBody>
      </p:sp>
      <p:sp>
        <p:nvSpPr>
          <p:cNvPr id="7" name="Text 5"/>
          <p:cNvSpPr txBox="1"/>
          <p:nvPr/>
        </p:nvSpPr>
        <p:spPr>
          <a:xfrm>
            <a:off x="1307592" y="1737360"/>
            <a:ext cx="219456" cy="457200"/>
          </a:xfrm>
          <a:prstGeom prst="rect">
            <a:avLst/>
          </a:prstGeom>
          <a:noFill/>
          <a:ln/>
        </p:spPr>
        <p:txBody>
          <a:bodyPr wrap="square" lIns="0" tIns="0" rIns="0" bIns="0" rtlCol="0" anchor="ctr"/>
          <a:lstStyle/>
          <a:p>
            <a:pPr algn="ctr" indent="0" marL="0">
              <a:buNone/>
            </a:pPr>
            <a:r>
              <a:rPr lang="en-US" sz="2000" b="1" dirty="0">
                <a:solidFill>
                  <a:srgbClr val="F5A623"/>
                </a:solidFill>
              </a:rPr>
              <a:t>›</a:t>
            </a:r>
            <a:endParaRPr lang="en-US" sz="2000" dirty="0"/>
          </a:p>
        </p:txBody>
      </p:sp>
      <p:sp>
        <p:nvSpPr>
          <p:cNvPr id="8" name="Text 6"/>
          <p:cNvSpPr txBox="1"/>
          <p:nvPr/>
        </p:nvSpPr>
        <p:spPr>
          <a:xfrm>
            <a:off x="274320"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EC2 instances running workloads</a:t>
            </a:r>
            <a:endParaRPr lang="en-US" sz="1050" dirty="0"/>
          </a:p>
        </p:txBody>
      </p:sp>
      <p:sp>
        <p:nvSpPr>
          <p:cNvPr id="9" name="Shape 7"/>
          <p:cNvSpPr/>
          <p:nvPr/>
        </p:nvSpPr>
        <p:spPr>
          <a:xfrm>
            <a:off x="1527048" y="1463040"/>
            <a:ext cx="1051560" cy="1005840"/>
          </a:xfrm>
          <a:prstGeom prst="rect">
            <a:avLst/>
          </a:prstGeom>
          <a:solidFill>
            <a:srgbClr val="1B2F5C"/>
          </a:solidFill>
          <a:ln/>
        </p:spPr>
      </p:sp>
      <p:sp>
        <p:nvSpPr>
          <p:cNvPr id="10" name="Text 8"/>
          <p:cNvSpPr txBox="1"/>
          <p:nvPr/>
        </p:nvSpPr>
        <p:spPr>
          <a:xfrm>
            <a:off x="1527048"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Monitor / Collect Usage</a:t>
            </a:r>
            <a:endParaRPr lang="en-US" sz="1100" dirty="0"/>
          </a:p>
        </p:txBody>
      </p:sp>
      <p:sp>
        <p:nvSpPr>
          <p:cNvPr id="11" name="Text 9"/>
          <p:cNvSpPr txBox="1"/>
          <p:nvPr/>
        </p:nvSpPr>
        <p:spPr>
          <a:xfrm>
            <a:off x="2560320" y="1737360"/>
            <a:ext cx="219456" cy="457200"/>
          </a:xfrm>
          <a:prstGeom prst="rect">
            <a:avLst/>
          </a:prstGeom>
          <a:noFill/>
          <a:ln/>
        </p:spPr>
        <p:txBody>
          <a:bodyPr wrap="square" lIns="0" tIns="0" rIns="0" bIns="0" rtlCol="0" anchor="ctr"/>
          <a:lstStyle/>
          <a:p>
            <a:pPr algn="ctr" indent="0" marL="0">
              <a:buNone/>
            </a:pPr>
            <a:r>
              <a:rPr lang="en-US" sz="2000" b="1" dirty="0">
                <a:solidFill>
                  <a:srgbClr val="F5A623"/>
                </a:solidFill>
              </a:rPr>
              <a:t>›</a:t>
            </a:r>
            <a:endParaRPr lang="en-US" sz="2000" dirty="0"/>
          </a:p>
        </p:txBody>
      </p:sp>
      <p:sp>
        <p:nvSpPr>
          <p:cNvPr id="12" name="Text 10"/>
          <p:cNvSpPr txBox="1"/>
          <p:nvPr/>
        </p:nvSpPr>
        <p:spPr>
          <a:xfrm>
            <a:off x="1527048"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CPU, memory, network usage is recorded</a:t>
            </a:r>
            <a:endParaRPr lang="en-US" sz="1050" dirty="0"/>
          </a:p>
        </p:txBody>
      </p:sp>
      <p:sp>
        <p:nvSpPr>
          <p:cNvPr id="13" name="Shape 11"/>
          <p:cNvSpPr/>
          <p:nvPr/>
        </p:nvSpPr>
        <p:spPr>
          <a:xfrm>
            <a:off x="2779776" y="1463040"/>
            <a:ext cx="1051560" cy="1005840"/>
          </a:xfrm>
          <a:prstGeom prst="rect">
            <a:avLst/>
          </a:prstGeom>
          <a:solidFill>
            <a:srgbClr val="F5A623"/>
          </a:solidFill>
          <a:ln/>
        </p:spPr>
      </p:sp>
      <p:sp>
        <p:nvSpPr>
          <p:cNvPr id="14" name="Text 12"/>
          <p:cNvSpPr txBox="1"/>
          <p:nvPr/>
        </p:nvSpPr>
        <p:spPr>
          <a:xfrm>
            <a:off x="2779776"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0F1E3D"/>
                </a:solidFill>
                <a:latin typeface="Calibri" pitchFamily="34" charset="0"/>
                <a:ea typeface="Calibri" pitchFamily="34" charset="-122"/>
                <a:cs typeface="Calibri" pitchFamily="34" charset="-120"/>
              </a:rPr>
              <a:t>AWS Compute Optimizer</a:t>
            </a:r>
            <a:endParaRPr lang="en-US" sz="1100" dirty="0"/>
          </a:p>
        </p:txBody>
      </p:sp>
      <p:sp>
        <p:nvSpPr>
          <p:cNvPr id="15" name="Text 13"/>
          <p:cNvSpPr txBox="1"/>
          <p:nvPr/>
        </p:nvSpPr>
        <p:spPr>
          <a:xfrm>
            <a:off x="3813048" y="1737360"/>
            <a:ext cx="219456" cy="457200"/>
          </a:xfrm>
          <a:prstGeom prst="rect">
            <a:avLst/>
          </a:prstGeom>
          <a:noFill/>
          <a:ln/>
        </p:spPr>
        <p:txBody>
          <a:bodyPr wrap="square" lIns="0" tIns="0" rIns="0" bIns="0" rtlCol="0" anchor="ctr"/>
          <a:lstStyle/>
          <a:p>
            <a:pPr algn="ctr" indent="0" marL="0">
              <a:buNone/>
            </a:pPr>
            <a:r>
              <a:rPr lang="en-US" sz="2000" b="1" dirty="0">
                <a:solidFill>
                  <a:srgbClr val="F5A623"/>
                </a:solidFill>
              </a:rPr>
              <a:t>›</a:t>
            </a:r>
            <a:endParaRPr lang="en-US" sz="2000" dirty="0"/>
          </a:p>
        </p:txBody>
      </p:sp>
      <p:sp>
        <p:nvSpPr>
          <p:cNvPr id="16" name="Text 14"/>
          <p:cNvSpPr txBox="1"/>
          <p:nvPr/>
        </p:nvSpPr>
        <p:spPr>
          <a:xfrm>
            <a:off x="2779776"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Analyzes the usage data</a:t>
            </a:r>
            <a:endParaRPr lang="en-US" sz="1050" dirty="0"/>
          </a:p>
        </p:txBody>
      </p:sp>
      <p:sp>
        <p:nvSpPr>
          <p:cNvPr id="17" name="Shape 15"/>
          <p:cNvSpPr/>
          <p:nvPr/>
        </p:nvSpPr>
        <p:spPr>
          <a:xfrm>
            <a:off x="4032504" y="1463040"/>
            <a:ext cx="1051560" cy="1005840"/>
          </a:xfrm>
          <a:prstGeom prst="rect">
            <a:avLst/>
          </a:prstGeom>
          <a:solidFill>
            <a:srgbClr val="1B2F5C"/>
          </a:solidFill>
          <a:ln/>
        </p:spPr>
      </p:sp>
      <p:sp>
        <p:nvSpPr>
          <p:cNvPr id="18" name="Text 16"/>
          <p:cNvSpPr txBox="1"/>
          <p:nvPr/>
        </p:nvSpPr>
        <p:spPr>
          <a:xfrm>
            <a:off x="4032504"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Generate Recommendations</a:t>
            </a:r>
            <a:endParaRPr lang="en-US" sz="1100" dirty="0"/>
          </a:p>
        </p:txBody>
      </p:sp>
      <p:sp>
        <p:nvSpPr>
          <p:cNvPr id="19" name="Text 17"/>
          <p:cNvSpPr txBox="1"/>
          <p:nvPr/>
        </p:nvSpPr>
        <p:spPr>
          <a:xfrm>
            <a:off x="5065776" y="1737360"/>
            <a:ext cx="219456" cy="457200"/>
          </a:xfrm>
          <a:prstGeom prst="rect">
            <a:avLst/>
          </a:prstGeom>
          <a:noFill/>
          <a:ln/>
        </p:spPr>
        <p:txBody>
          <a:bodyPr wrap="square" lIns="0" tIns="0" rIns="0" bIns="0" rtlCol="0" anchor="ctr"/>
          <a:lstStyle/>
          <a:p>
            <a:pPr algn="ctr" indent="0" marL="0">
              <a:buNone/>
            </a:pPr>
            <a:r>
              <a:rPr lang="en-US" sz="2000" b="1" dirty="0">
                <a:solidFill>
                  <a:srgbClr val="F5A623"/>
                </a:solidFill>
              </a:rPr>
              <a:t>›</a:t>
            </a:r>
            <a:endParaRPr lang="en-US" sz="2000" dirty="0"/>
          </a:p>
        </p:txBody>
      </p:sp>
      <p:sp>
        <p:nvSpPr>
          <p:cNvPr id="20" name="Text 18"/>
          <p:cNvSpPr txBox="1"/>
          <p:nvPr/>
        </p:nvSpPr>
        <p:spPr>
          <a:xfrm>
            <a:off x="4032504"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Suggests better sizes</a:t>
            </a:r>
            <a:endParaRPr lang="en-US" sz="1050" dirty="0"/>
          </a:p>
        </p:txBody>
      </p:sp>
      <p:sp>
        <p:nvSpPr>
          <p:cNvPr id="21" name="Shape 19"/>
          <p:cNvSpPr/>
          <p:nvPr/>
        </p:nvSpPr>
        <p:spPr>
          <a:xfrm>
            <a:off x="5285232" y="1463040"/>
            <a:ext cx="1051560" cy="1005840"/>
          </a:xfrm>
          <a:prstGeom prst="rect">
            <a:avLst/>
          </a:prstGeom>
          <a:solidFill>
            <a:srgbClr val="1B2F5C"/>
          </a:solidFill>
          <a:ln/>
        </p:spPr>
      </p:sp>
      <p:sp>
        <p:nvSpPr>
          <p:cNvPr id="22" name="Text 20"/>
          <p:cNvSpPr txBox="1"/>
          <p:nvPr/>
        </p:nvSpPr>
        <p:spPr>
          <a:xfrm>
            <a:off x="5285232"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Evaluate Recommendation</a:t>
            </a:r>
            <a:endParaRPr lang="en-US" sz="1100" dirty="0"/>
          </a:p>
        </p:txBody>
      </p:sp>
      <p:sp>
        <p:nvSpPr>
          <p:cNvPr id="23" name="Text 21"/>
          <p:cNvSpPr txBox="1"/>
          <p:nvPr/>
        </p:nvSpPr>
        <p:spPr>
          <a:xfrm>
            <a:off x="6318504" y="1737360"/>
            <a:ext cx="219456" cy="457200"/>
          </a:xfrm>
          <a:prstGeom prst="rect">
            <a:avLst/>
          </a:prstGeom>
          <a:noFill/>
          <a:ln/>
        </p:spPr>
        <p:txBody>
          <a:bodyPr wrap="square" lIns="0" tIns="0" rIns="0" bIns="0" rtlCol="0" anchor="ctr"/>
          <a:lstStyle/>
          <a:p>
            <a:pPr algn="ctr" indent="0" marL="0">
              <a:buNone/>
            </a:pPr>
            <a:r>
              <a:rPr lang="en-US" sz="2000" b="1" dirty="0">
                <a:solidFill>
                  <a:srgbClr val="F5A623"/>
                </a:solidFill>
              </a:rPr>
              <a:t>›</a:t>
            </a:r>
            <a:endParaRPr lang="en-US" sz="2000" dirty="0"/>
          </a:p>
        </p:txBody>
      </p:sp>
      <p:sp>
        <p:nvSpPr>
          <p:cNvPr id="24" name="Text 22"/>
          <p:cNvSpPr txBox="1"/>
          <p:nvPr/>
        </p:nvSpPr>
        <p:spPr>
          <a:xfrm>
            <a:off x="5285232"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Check savings and performance risk</a:t>
            </a:r>
            <a:endParaRPr lang="en-US" sz="1050" dirty="0"/>
          </a:p>
        </p:txBody>
      </p:sp>
      <p:sp>
        <p:nvSpPr>
          <p:cNvPr id="25" name="Shape 23"/>
          <p:cNvSpPr/>
          <p:nvPr/>
        </p:nvSpPr>
        <p:spPr>
          <a:xfrm>
            <a:off x="6537960" y="1463040"/>
            <a:ext cx="1051560" cy="1005840"/>
          </a:xfrm>
          <a:prstGeom prst="rect">
            <a:avLst/>
          </a:prstGeom>
          <a:solidFill>
            <a:srgbClr val="1B2F5C"/>
          </a:solidFill>
          <a:ln/>
        </p:spPr>
      </p:sp>
      <p:sp>
        <p:nvSpPr>
          <p:cNvPr id="26" name="Text 24"/>
          <p:cNvSpPr txBox="1"/>
          <p:nvPr/>
        </p:nvSpPr>
        <p:spPr>
          <a:xfrm>
            <a:off x="6537960"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Rightsize Resource</a:t>
            </a:r>
            <a:endParaRPr lang="en-US" sz="1100" dirty="0"/>
          </a:p>
        </p:txBody>
      </p:sp>
      <p:sp>
        <p:nvSpPr>
          <p:cNvPr id="27" name="Text 25"/>
          <p:cNvSpPr txBox="1"/>
          <p:nvPr/>
        </p:nvSpPr>
        <p:spPr>
          <a:xfrm>
            <a:off x="7571232" y="1737360"/>
            <a:ext cx="219456" cy="457200"/>
          </a:xfrm>
          <a:prstGeom prst="rect">
            <a:avLst/>
          </a:prstGeom>
          <a:noFill/>
          <a:ln/>
        </p:spPr>
        <p:txBody>
          <a:bodyPr wrap="square" lIns="0" tIns="0" rIns="0" bIns="0" rtlCol="0" anchor="ctr"/>
          <a:lstStyle/>
          <a:p>
            <a:pPr algn="ctr" indent="0" marL="0">
              <a:buNone/>
            </a:pPr>
            <a:r>
              <a:rPr lang="en-US" sz="2000" b="1" dirty="0">
                <a:solidFill>
                  <a:srgbClr val="F5A623"/>
                </a:solidFill>
              </a:rPr>
              <a:t>›</a:t>
            </a:r>
            <a:endParaRPr lang="en-US" sz="2000" dirty="0"/>
          </a:p>
        </p:txBody>
      </p:sp>
      <p:sp>
        <p:nvSpPr>
          <p:cNvPr id="28" name="Text 26"/>
          <p:cNvSpPr txBox="1"/>
          <p:nvPr/>
        </p:nvSpPr>
        <p:spPr>
          <a:xfrm>
            <a:off x="6537960"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Apply the chosen size</a:t>
            </a:r>
            <a:endParaRPr lang="en-US" sz="1050" dirty="0"/>
          </a:p>
        </p:txBody>
      </p:sp>
      <p:sp>
        <p:nvSpPr>
          <p:cNvPr id="29" name="Shape 27"/>
          <p:cNvSpPr/>
          <p:nvPr/>
        </p:nvSpPr>
        <p:spPr>
          <a:xfrm>
            <a:off x="7790688" y="1463040"/>
            <a:ext cx="1051560" cy="1005840"/>
          </a:xfrm>
          <a:prstGeom prst="rect">
            <a:avLst/>
          </a:prstGeom>
          <a:solidFill>
            <a:srgbClr val="1B2F5C"/>
          </a:solidFill>
          <a:ln/>
        </p:spPr>
      </p:sp>
      <p:sp>
        <p:nvSpPr>
          <p:cNvPr id="30" name="Text 28"/>
          <p:cNvSpPr txBox="1"/>
          <p:nvPr/>
        </p:nvSpPr>
        <p:spPr>
          <a:xfrm>
            <a:off x="7790688" y="1463040"/>
            <a:ext cx="1051560" cy="100584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Monitor Again</a:t>
            </a:r>
            <a:endParaRPr lang="en-US" sz="1100" dirty="0"/>
          </a:p>
        </p:txBody>
      </p:sp>
      <p:sp>
        <p:nvSpPr>
          <p:cNvPr id="31" name="Text 29"/>
          <p:cNvSpPr txBox="1"/>
          <p:nvPr/>
        </p:nvSpPr>
        <p:spPr>
          <a:xfrm>
            <a:off x="7790688" y="2651760"/>
            <a:ext cx="1097280" cy="1188720"/>
          </a:xfrm>
          <a:prstGeom prst="rect">
            <a:avLst/>
          </a:prstGeom>
          <a:noFill/>
          <a:ln/>
        </p:spPr>
        <p:txBody>
          <a:bodyPr wrap="square" lIns="0" tIns="0" rIns="0" bIns="0" rtlCol="0" anchor="t"/>
          <a:lstStyle/>
          <a:p>
            <a:pPr indent="0" marL="0">
              <a:buNone/>
            </a:pPr>
            <a:r>
              <a:rPr lang="en-US" sz="1050" dirty="0">
                <a:solidFill>
                  <a:srgbClr val="C5CEE0"/>
                </a:solidFill>
                <a:latin typeface="Calibri" pitchFamily="34" charset="0"/>
                <a:ea typeface="Calibri" pitchFamily="34" charset="-122"/>
                <a:cs typeface="Calibri" pitchFamily="34" charset="-120"/>
              </a:rPr>
              <a:t>Verify and repeat regularly</a:t>
            </a:r>
            <a:endParaRPr lang="en-US" sz="1050" dirty="0"/>
          </a:p>
        </p:txBody>
      </p:sp>
      <p:sp>
        <p:nvSpPr>
          <p:cNvPr id="32" name="Shape 30"/>
          <p:cNvSpPr/>
          <p:nvPr/>
        </p:nvSpPr>
        <p:spPr>
          <a:xfrm>
            <a:off x="8316468" y="1188720"/>
            <a:ext cx="0" cy="274320"/>
          </a:xfrm>
          <a:prstGeom prst="line">
            <a:avLst/>
          </a:prstGeom>
          <a:noFill/>
          <a:ln w="25400">
            <a:solidFill>
              <a:srgbClr val="F5A623"/>
            </a:solidFill>
            <a:prstDash val="solid"/>
          </a:ln>
        </p:spPr>
      </p:sp>
      <p:sp>
        <p:nvSpPr>
          <p:cNvPr id="33" name="Shape 31"/>
          <p:cNvSpPr/>
          <p:nvPr/>
        </p:nvSpPr>
        <p:spPr>
          <a:xfrm>
            <a:off x="800100" y="1188720"/>
            <a:ext cx="7516368" cy="0"/>
          </a:xfrm>
          <a:prstGeom prst="line">
            <a:avLst/>
          </a:prstGeom>
          <a:noFill/>
          <a:ln w="25400">
            <a:solidFill>
              <a:srgbClr val="F5A623"/>
            </a:solidFill>
            <a:prstDash val="solid"/>
          </a:ln>
        </p:spPr>
      </p:sp>
      <p:sp>
        <p:nvSpPr>
          <p:cNvPr id="34" name="Shape 32"/>
          <p:cNvSpPr/>
          <p:nvPr/>
        </p:nvSpPr>
        <p:spPr>
          <a:xfrm>
            <a:off x="800100" y="1188720"/>
            <a:ext cx="0" cy="274320"/>
          </a:xfrm>
          <a:prstGeom prst="line">
            <a:avLst/>
          </a:prstGeom>
          <a:noFill/>
          <a:ln w="25400">
            <a:solidFill>
              <a:srgbClr val="F5A623"/>
            </a:solidFill>
            <a:prstDash val="solid"/>
            <a:tailEnd type="triangle"/>
          </a:ln>
        </p:spPr>
      </p:sp>
      <p:sp>
        <p:nvSpPr>
          <p:cNvPr id="35" name="Text 33"/>
          <p:cNvSpPr txBox="1"/>
          <p:nvPr/>
        </p:nvSpPr>
        <p:spPr>
          <a:xfrm>
            <a:off x="3200400" y="1051560"/>
            <a:ext cx="2743200" cy="274320"/>
          </a:xfrm>
          <a:prstGeom prst="rect">
            <a:avLst/>
          </a:prstGeom>
          <a:solidFill>
            <a:srgbClr val="0F1E3D"/>
          </a:solidFill>
          <a:ln/>
        </p:spPr>
        <p:txBody>
          <a:bodyPr wrap="square" lIns="0" tIns="0" rIns="0" bIns="0" rtlCol="0" anchor="ctr"/>
          <a:lstStyle/>
          <a:p>
            <a:pPr algn="ctr" indent="0" marL="0">
              <a:buNone/>
            </a:pPr>
            <a:r>
              <a:rPr lang="en-US" sz="1100" b="1" dirty="0">
                <a:solidFill>
                  <a:srgbClr val="F5A623"/>
                </a:solidFill>
                <a:latin typeface="Calibri" pitchFamily="34" charset="0"/>
                <a:ea typeface="Calibri" pitchFamily="34" charset="-122"/>
                <a:cs typeface="Calibri" pitchFamily="34" charset="-120"/>
              </a:rPr>
              <a:t>Continuous lifecycle: repeat</a:t>
            </a:r>
            <a:endParaRPr lang="en-US" sz="1100" dirty="0"/>
          </a:p>
        </p:txBody>
      </p:sp>
      <p:sp>
        <p:nvSpPr>
          <p:cNvPr id="36" name="Text 34"/>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rgbClr val="F5A623"/>
                </a:solidFill>
                <a:latin typeface="Calibri" pitchFamily="34" charset="0"/>
                <a:ea typeface="Calibri" pitchFamily="34" charset="-122"/>
                <a:cs typeface="Calibri" pitchFamily="34" charset="-120"/>
              </a:rPr>
              <a:t>The cycle repeats, so resources stay matched to the workload.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Architecture &amp; Resources Used</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7</a:t>
            </a:r>
            <a:endParaRPr lang="en-US" sz="1000" dirty="0"/>
          </a:p>
        </p:txBody>
      </p:sp>
      <p:sp>
        <p:nvSpPr>
          <p:cNvPr id="5" name="Shape 3"/>
          <p:cNvSpPr/>
          <p:nvPr/>
        </p:nvSpPr>
        <p:spPr>
          <a:xfrm>
            <a:off x="548640" y="1005840"/>
            <a:ext cx="8046720" cy="4069080"/>
          </a:xfrm>
          <a:prstGeom prst="rect">
            <a:avLst/>
          </a:prstGeom>
          <a:solidFill>
            <a:srgbClr val="FFFFFF"/>
          </a:solidFill>
          <a:ln/>
        </p:spPr>
      </p:sp>
      <p:pic>
        <p:nvPicPr>
          <p:cNvPr id="6" name="Image 0" descr="/mnt/user-data/uploads/1791046363045_image.png">    </p:cNvPr>
          <p:cNvPicPr>
            <a:picLocks noChangeAspect="1"/>
          </p:cNvPicPr>
          <p:nvPr/>
        </p:nvPicPr>
        <p:blipFill>
          <a:blip r:embed="rId1"/>
          <a:stretch>
            <a:fillRect/>
          </a:stretch>
        </p:blipFill>
        <p:spPr>
          <a:xfrm>
            <a:off x="594360" y="1051560"/>
            <a:ext cx="7955280" cy="3977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E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&amp; Future Scope</a:t>
            </a:r>
            <a:endParaRPr lang="en-US" sz="2600" dirty="0"/>
          </a:p>
        </p:txBody>
      </p:sp>
      <p:sp>
        <p:nvSpPr>
          <p:cNvPr id="3" name="Shape 1"/>
          <p:cNvSpPr/>
          <p:nvPr/>
        </p:nvSpPr>
        <p:spPr>
          <a:xfrm>
            <a:off x="457200" y="868680"/>
            <a:ext cx="822960" cy="45720"/>
          </a:xfrm>
          <a:prstGeom prst="rect">
            <a:avLst/>
          </a:prstGeom>
          <a:solidFill>
            <a:srgbClr val="F5A623"/>
          </a:solidFill>
          <a:ln/>
        </p:spPr>
      </p:sp>
      <p:sp>
        <p:nvSpPr>
          <p:cNvPr id="4" name="Text 2"/>
          <p:cNvSpPr txBox="1"/>
          <p:nvPr/>
        </p:nvSpPr>
        <p:spPr>
          <a:xfrm>
            <a:off x="8229600" y="4754880"/>
            <a:ext cx="457200" cy="274320"/>
          </a:xfrm>
          <a:prstGeom prst="rect">
            <a:avLst/>
          </a:prstGeom>
          <a:noFill/>
          <a:ln/>
        </p:spPr>
        <p:txBody>
          <a:bodyPr wrap="square" rtlCol="0" anchor="ctr"/>
          <a:lstStyle/>
          <a:p>
            <a:pPr algn="r" indent="0" marL="0">
              <a:buNone/>
            </a:pPr>
            <a:r>
              <a:rPr lang="en-US" sz="1000" dirty="0">
                <a:solidFill>
                  <a:srgbClr val="C5CEE0"/>
                </a:solidFill>
              </a:rPr>
              <a:t>8</a:t>
            </a:r>
            <a:endParaRPr lang="en-US" sz="1000" dirty="0"/>
          </a:p>
        </p:txBody>
      </p:sp>
      <p:sp>
        <p:nvSpPr>
          <p:cNvPr id="5" name="Shape 3"/>
          <p:cNvSpPr/>
          <p:nvPr/>
        </p:nvSpPr>
        <p:spPr>
          <a:xfrm>
            <a:off x="457200" y="1143000"/>
            <a:ext cx="4023360" cy="2743200"/>
          </a:xfrm>
          <a:prstGeom prst="rect">
            <a:avLst/>
          </a:prstGeom>
          <a:solidFill>
            <a:srgbClr val="1B2F5C"/>
          </a:solidFill>
          <a:ln/>
        </p:spPr>
      </p:sp>
      <p:sp>
        <p:nvSpPr>
          <p:cNvPr id="6" name="Shape 4"/>
          <p:cNvSpPr/>
          <p:nvPr/>
        </p:nvSpPr>
        <p:spPr>
          <a:xfrm>
            <a:off x="457200" y="1143000"/>
            <a:ext cx="4023360" cy="54864"/>
          </a:xfrm>
          <a:prstGeom prst="rect">
            <a:avLst/>
          </a:prstGeom>
          <a:solidFill>
            <a:srgbClr val="F5A623"/>
          </a:solidFill>
          <a:ln/>
        </p:spPr>
      </p:sp>
      <p:sp>
        <p:nvSpPr>
          <p:cNvPr id="7" name="Text 5"/>
          <p:cNvSpPr txBox="1"/>
          <p:nvPr/>
        </p:nvSpPr>
        <p:spPr>
          <a:xfrm>
            <a:off x="640080" y="1280160"/>
            <a:ext cx="3657600" cy="27432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CONCLUSION</a:t>
            </a:r>
            <a:endParaRPr lang="en-US" sz="1400" dirty="0"/>
          </a:p>
        </p:txBody>
      </p:sp>
      <p:sp>
        <p:nvSpPr>
          <p:cNvPr id="8" name="Text 6"/>
          <p:cNvSpPr txBox="1"/>
          <p:nvPr/>
        </p:nvSpPr>
        <p:spPr>
          <a:xfrm>
            <a:off x="640080" y="1691640"/>
            <a:ext cx="365760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Identifies inefficient resource allocation</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Uses Compute Optimizer recommendations</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Supports better resource utilization</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Helps organizations optimize cloud costs</a:t>
            </a:r>
            <a:endParaRPr lang="en-US" sz="1300" dirty="0"/>
          </a:p>
        </p:txBody>
      </p:sp>
      <p:sp>
        <p:nvSpPr>
          <p:cNvPr id="9" name="Shape 7"/>
          <p:cNvSpPr/>
          <p:nvPr/>
        </p:nvSpPr>
        <p:spPr>
          <a:xfrm>
            <a:off x="4663440" y="1143000"/>
            <a:ext cx="4023360" cy="2743200"/>
          </a:xfrm>
          <a:prstGeom prst="rect">
            <a:avLst/>
          </a:prstGeom>
          <a:solidFill>
            <a:srgbClr val="1B2F5C"/>
          </a:solidFill>
          <a:ln/>
        </p:spPr>
      </p:sp>
      <p:sp>
        <p:nvSpPr>
          <p:cNvPr id="10" name="Shape 8"/>
          <p:cNvSpPr/>
          <p:nvPr/>
        </p:nvSpPr>
        <p:spPr>
          <a:xfrm>
            <a:off x="4663440" y="1143000"/>
            <a:ext cx="4023360" cy="54864"/>
          </a:xfrm>
          <a:prstGeom prst="rect">
            <a:avLst/>
          </a:prstGeom>
          <a:solidFill>
            <a:srgbClr val="F5A623"/>
          </a:solidFill>
          <a:ln/>
        </p:spPr>
      </p:sp>
      <p:sp>
        <p:nvSpPr>
          <p:cNvPr id="11" name="Text 9"/>
          <p:cNvSpPr txBox="1"/>
          <p:nvPr/>
        </p:nvSpPr>
        <p:spPr>
          <a:xfrm>
            <a:off x="4846320" y="1280160"/>
            <a:ext cx="3657600" cy="27432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FUTURE SCOPE</a:t>
            </a:r>
            <a:endParaRPr lang="en-US" sz="1400" dirty="0"/>
          </a:p>
        </p:txBody>
      </p:sp>
      <p:sp>
        <p:nvSpPr>
          <p:cNvPr id="12" name="Text 10"/>
          <p:cNvSpPr txBox="1"/>
          <p:nvPr/>
        </p:nvSpPr>
        <p:spPr>
          <a:xfrm>
            <a:off x="4846320" y="1691640"/>
            <a:ext cx="365760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More automated rightsizing</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Better monitoring</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Support for more AWS resource types</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Integration with automated approval / deployment workflows</a:t>
            </a:r>
            <a:endParaRPr lang="en-US" sz="1300" dirty="0"/>
          </a:p>
        </p:txBody>
      </p:sp>
      <p:sp>
        <p:nvSpPr>
          <p:cNvPr id="13" name="Text 11"/>
          <p:cNvSpPr txBox="1"/>
          <p:nvPr/>
        </p:nvSpPr>
        <p:spPr>
          <a:xfrm>
            <a:off x="457200" y="4114800"/>
            <a:ext cx="8229600" cy="457200"/>
          </a:xfrm>
          <a:prstGeom prst="rect">
            <a:avLst/>
          </a:prstGeom>
          <a:noFill/>
          <a:ln/>
        </p:spPr>
        <p:txBody>
          <a:bodyPr wrap="square" lIns="0" tIns="0" rIns="0" bIns="0" rtlCol="0" anchor="ctr"/>
          <a:lstStyle/>
          <a:p>
            <a:pPr algn="ctr" indent="0" marL="0">
              <a:buNone/>
            </a:pPr>
            <a:r>
              <a:rPr lang="en-US" sz="2000" b="1" dirty="0">
                <a:solidFill>
                  <a:srgbClr val="F5A623"/>
                </a:solidFill>
                <a:latin typeface="Calibri" pitchFamily="34" charset="0"/>
                <a:ea typeface="Calibri" pitchFamily="34" charset="-122"/>
                <a:cs typeface="Calibri"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Compute Optimizer Driven Rightsizing Programme</dc:title>
  <dc:subject>PptxGenJS Presentation</dc:subject>
  <dc:creator>PptxGenJS</dc:creator>
  <cp:lastModifiedBy>PptxGenJS</cp:lastModifiedBy>
  <cp:revision>1</cp:revision>
  <dcterms:created xsi:type="dcterms:W3CDTF">2026-10-03T16:58:23Z</dcterms:created>
  <dcterms:modified xsi:type="dcterms:W3CDTF">2026-10-03T16:58:23Z</dcterms:modified>
</cp:coreProperties>
</file>